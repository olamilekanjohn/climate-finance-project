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Lst>
  <p:sldSz cx="43883263" cy="3290411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4" userDrawn="1">
          <p15:clr>
            <a:srgbClr val="A4A3A4"/>
          </p15:clr>
        </p15:guide>
        <p15:guide id="2" pos="1382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84300"/>
    <a:srgbClr val="FFEFBD"/>
    <a:srgbClr val="FFEBAB"/>
    <a:srgbClr val="FFE3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7BE0DF-9955-5266-739D-ABA9707AEE13}" v="3" dt="2026-06-09T03:00:51.9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0364"/>
        <p:guide pos="13823"/>
      </p:guideLst>
    </p:cSldViewPr>
  </p:slide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3ACCA0-2002-4DE7-B971-93356227590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B6322537-1D7B-4D8E-A339-B8548DF682F5}">
      <dgm:prSet phldrT="[Text]" phldr="0"/>
      <dgm:spPr>
        <a:solidFill>
          <a:schemeClr val="bg2">
            <a:lumMod val="50000"/>
          </a:schemeClr>
        </a:solidFill>
        <a:ln>
          <a:solidFill>
            <a:schemeClr val="tx1">
              <a:lumMod val="65000"/>
              <a:lumOff val="35000"/>
            </a:schemeClr>
          </a:solidFill>
        </a:ln>
      </dgm:spPr>
      <dgm:t>
        <a:bodyPr/>
        <a:lstStyle/>
        <a:p>
          <a:r>
            <a:rPr lang="en-GB" b="1">
              <a:solidFill>
                <a:schemeClr val="bg1"/>
              </a:solidFill>
              <a:latin typeface="Georgia" panose="02040502050405020303" pitchFamily="18" charset="0"/>
              <a:cs typeface="Helvetica" panose="020B0604020202020204" pitchFamily="34" charset="0"/>
            </a:rPr>
            <a:t>05 – Where the money goes </a:t>
          </a:r>
        </a:p>
      </dgm:t>
    </dgm:pt>
    <dgm:pt modelId="{328D89FF-9906-4389-8506-65DBC3747D52}" type="parTrans" cxnId="{EA2B0856-D986-46EC-AD34-4773635B2236}">
      <dgm:prSet/>
      <dgm:spPr/>
      <dgm:t>
        <a:bodyPr/>
        <a:lstStyle/>
        <a:p>
          <a:endParaRPr lang="en-GB"/>
        </a:p>
      </dgm:t>
    </dgm:pt>
    <dgm:pt modelId="{DFA39696-D3BB-46C2-AEB5-A0BB4D4A4074}" type="sibTrans" cxnId="{EA2B0856-D986-46EC-AD34-4773635B2236}">
      <dgm:prSet/>
      <dgm:spPr/>
      <dgm:t>
        <a:bodyPr/>
        <a:lstStyle/>
        <a:p>
          <a:endParaRPr lang="en-GB"/>
        </a:p>
      </dgm:t>
    </dgm:pt>
    <dgm:pt modelId="{B44ADBE3-E146-477C-9570-46457CD5C28B}" type="pres">
      <dgm:prSet presAssocID="{B53ACCA0-2002-4DE7-B971-93356227590E}" presName="linear" presStyleCnt="0">
        <dgm:presLayoutVars>
          <dgm:animLvl val="lvl"/>
          <dgm:resizeHandles val="exact"/>
        </dgm:presLayoutVars>
      </dgm:prSet>
      <dgm:spPr/>
    </dgm:pt>
    <dgm:pt modelId="{A26B072E-962C-4356-916F-F7DBEA45CAD1}" type="pres">
      <dgm:prSet presAssocID="{B6322537-1D7B-4D8E-A339-B8548DF682F5}" presName="parentText" presStyleLbl="node1" presStyleIdx="0" presStyleCnt="1" custLinFactNeighborY="-7722">
        <dgm:presLayoutVars>
          <dgm:chMax val="0"/>
          <dgm:bulletEnabled val="1"/>
        </dgm:presLayoutVars>
      </dgm:prSet>
      <dgm:spPr/>
    </dgm:pt>
  </dgm:ptLst>
  <dgm:cxnLst>
    <dgm:cxn modelId="{EA2B0856-D986-46EC-AD34-4773635B2236}" srcId="{B53ACCA0-2002-4DE7-B971-93356227590E}" destId="{B6322537-1D7B-4D8E-A339-B8548DF682F5}" srcOrd="0" destOrd="0" parTransId="{328D89FF-9906-4389-8506-65DBC3747D52}" sibTransId="{DFA39696-D3BB-46C2-AEB5-A0BB4D4A4074}"/>
    <dgm:cxn modelId="{62C831C0-A3B5-456F-A974-CD0636031580}" type="presOf" srcId="{B53ACCA0-2002-4DE7-B971-93356227590E}" destId="{B44ADBE3-E146-477C-9570-46457CD5C28B}" srcOrd="0" destOrd="0" presId="urn:microsoft.com/office/officeart/2005/8/layout/vList2"/>
    <dgm:cxn modelId="{5049A0ED-EE73-4D82-B73A-B884DE6C4492}" type="presOf" srcId="{B6322537-1D7B-4D8E-A339-B8548DF682F5}" destId="{A26B072E-962C-4356-916F-F7DBEA45CAD1}" srcOrd="0" destOrd="0" presId="urn:microsoft.com/office/officeart/2005/8/layout/vList2"/>
    <dgm:cxn modelId="{6886EDC1-8C1E-4EBB-9521-A40B523B1B23}" type="presParOf" srcId="{B44ADBE3-E146-477C-9570-46457CD5C28B}" destId="{A26B072E-962C-4356-916F-F7DBEA45CAD1}" srcOrd="0"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6B072E-962C-4356-916F-F7DBEA45CAD1}">
      <dsp:nvSpPr>
        <dsp:cNvPr id="0" name=""/>
        <dsp:cNvSpPr/>
      </dsp:nvSpPr>
      <dsp:spPr>
        <a:xfrm>
          <a:off x="0" y="0"/>
          <a:ext cx="9738282" cy="702000"/>
        </a:xfrm>
        <a:prstGeom prst="roundRect">
          <a:avLst/>
        </a:prstGeom>
        <a:solidFill>
          <a:schemeClr val="bg2">
            <a:lumMod val="50000"/>
          </a:schemeClr>
        </a:solidFill>
        <a:ln w="19050" cap="flat" cmpd="sng" algn="ctr">
          <a:solidFill>
            <a:schemeClr val="tx1">
              <a:lumMod val="65000"/>
              <a:lumOff val="3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GB" sz="3000" b="1" kern="1200">
              <a:solidFill>
                <a:schemeClr val="bg1"/>
              </a:solidFill>
              <a:latin typeface="Georgia" panose="02040502050405020303" pitchFamily="18" charset="0"/>
              <a:cs typeface="Helvetica" panose="020B0604020202020204" pitchFamily="34" charset="0"/>
            </a:rPr>
            <a:t>05 – Where the money goes </a:t>
          </a:r>
        </a:p>
      </dsp:txBody>
      <dsp:txXfrm>
        <a:off x="34269" y="34269"/>
        <a:ext cx="9669744" cy="63346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245" y="5385004"/>
            <a:ext cx="37300774" cy="11455506"/>
          </a:xfrm>
        </p:spPr>
        <p:txBody>
          <a:bodyPr anchor="b"/>
          <a:lstStyle>
            <a:lvl1pPr algn="ctr">
              <a:defRPr sz="28787"/>
            </a:lvl1pPr>
          </a:lstStyle>
          <a:p>
            <a:r>
              <a:rPr lang="en-GB"/>
              <a:t>Click to edit Master title style</a:t>
            </a:r>
            <a:endParaRPr lang="en-US"/>
          </a:p>
        </p:txBody>
      </p:sp>
      <p:sp>
        <p:nvSpPr>
          <p:cNvPr id="3" name="Subtitle 2"/>
          <p:cNvSpPr>
            <a:spLocks noGrp="1"/>
          </p:cNvSpPr>
          <p:nvPr>
            <p:ph type="subTitle" idx="1"/>
          </p:nvPr>
        </p:nvSpPr>
        <p:spPr>
          <a:xfrm>
            <a:off x="5485408" y="17282279"/>
            <a:ext cx="32912447" cy="7944208"/>
          </a:xfrm>
        </p:spPr>
        <p:txBody>
          <a:bodyPr/>
          <a:lstStyle>
            <a:lvl1pPr marL="0" indent="0" algn="ctr">
              <a:buNone/>
              <a:defRPr sz="11515"/>
            </a:lvl1pPr>
            <a:lvl2pPr marL="2193600" indent="0" algn="ctr">
              <a:buNone/>
              <a:defRPr sz="9596"/>
            </a:lvl2pPr>
            <a:lvl3pPr marL="4387200" indent="0" algn="ctr">
              <a:buNone/>
              <a:defRPr sz="8636"/>
            </a:lvl3pPr>
            <a:lvl4pPr marL="6580800" indent="0" algn="ctr">
              <a:buNone/>
              <a:defRPr sz="7677"/>
            </a:lvl4pPr>
            <a:lvl5pPr marL="8774400" indent="0" algn="ctr">
              <a:buNone/>
              <a:defRPr sz="7677"/>
            </a:lvl5pPr>
            <a:lvl6pPr marL="10967999" indent="0" algn="ctr">
              <a:buNone/>
              <a:defRPr sz="7677"/>
            </a:lvl6pPr>
            <a:lvl7pPr marL="13161599" indent="0" algn="ctr">
              <a:buNone/>
              <a:defRPr sz="7677"/>
            </a:lvl7pPr>
            <a:lvl8pPr marL="15355199" indent="0" algn="ctr">
              <a:buNone/>
              <a:defRPr sz="7677"/>
            </a:lvl8pPr>
            <a:lvl9pPr marL="17548799" indent="0" algn="ctr">
              <a:buNone/>
              <a:defRPr sz="7677"/>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846CE7D5-CF57-46EF-B807-FDD0502418D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75359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846CE7D5-CF57-46EF-B807-FDD0502418D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1721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121" y="8203188"/>
            <a:ext cx="37849314" cy="13687195"/>
          </a:xfrm>
        </p:spPr>
        <p:txBody>
          <a:bodyPr anchor="b"/>
          <a:lstStyle>
            <a:lvl1pPr>
              <a:defRPr sz="28787"/>
            </a:lvl1pPr>
          </a:lstStyle>
          <a:p>
            <a:r>
              <a:rPr lang="en-GB"/>
              <a:t>Click to edit Master title style</a:t>
            </a:r>
            <a:endParaRPr lang="en-US"/>
          </a:p>
        </p:txBody>
      </p:sp>
      <p:sp>
        <p:nvSpPr>
          <p:cNvPr id="3" name="Text Placeholder 2"/>
          <p:cNvSpPr>
            <a:spLocks noGrp="1"/>
          </p:cNvSpPr>
          <p:nvPr>
            <p:ph type="body" idx="1"/>
          </p:nvPr>
        </p:nvSpPr>
        <p:spPr>
          <a:xfrm>
            <a:off x="2994121" y="22019869"/>
            <a:ext cx="37849314" cy="7197772"/>
          </a:xfrm>
        </p:spPr>
        <p:txBody>
          <a:bodyPr/>
          <a:lstStyle>
            <a:lvl1pPr marL="0" indent="0">
              <a:buNone/>
              <a:defRPr sz="11515">
                <a:solidFill>
                  <a:schemeClr val="tx1">
                    <a:tint val="82000"/>
                  </a:schemeClr>
                </a:solidFill>
              </a:defRPr>
            </a:lvl1pPr>
            <a:lvl2pPr marL="2193600" indent="0">
              <a:buNone/>
              <a:defRPr sz="9596">
                <a:solidFill>
                  <a:schemeClr val="tx1">
                    <a:tint val="82000"/>
                  </a:schemeClr>
                </a:solidFill>
              </a:defRPr>
            </a:lvl2pPr>
            <a:lvl3pPr marL="4387200" indent="0">
              <a:buNone/>
              <a:defRPr sz="8636">
                <a:solidFill>
                  <a:schemeClr val="tx1">
                    <a:tint val="82000"/>
                  </a:schemeClr>
                </a:solidFill>
              </a:defRPr>
            </a:lvl3pPr>
            <a:lvl4pPr marL="6580800" indent="0">
              <a:buNone/>
              <a:defRPr sz="7677">
                <a:solidFill>
                  <a:schemeClr val="tx1">
                    <a:tint val="82000"/>
                  </a:schemeClr>
                </a:solidFill>
              </a:defRPr>
            </a:lvl4pPr>
            <a:lvl5pPr marL="8774400" indent="0">
              <a:buNone/>
              <a:defRPr sz="7677">
                <a:solidFill>
                  <a:schemeClr val="tx1">
                    <a:tint val="82000"/>
                  </a:schemeClr>
                </a:solidFill>
              </a:defRPr>
            </a:lvl5pPr>
            <a:lvl6pPr marL="10967999" indent="0">
              <a:buNone/>
              <a:defRPr sz="7677">
                <a:solidFill>
                  <a:schemeClr val="tx1">
                    <a:tint val="82000"/>
                  </a:schemeClr>
                </a:solidFill>
              </a:defRPr>
            </a:lvl6pPr>
            <a:lvl7pPr marL="13161599" indent="0">
              <a:buNone/>
              <a:defRPr sz="7677">
                <a:solidFill>
                  <a:schemeClr val="tx1">
                    <a:tint val="82000"/>
                  </a:schemeClr>
                </a:solidFill>
              </a:defRPr>
            </a:lvl7pPr>
            <a:lvl8pPr marL="15355199" indent="0">
              <a:buNone/>
              <a:defRPr sz="7677">
                <a:solidFill>
                  <a:schemeClr val="tx1">
                    <a:tint val="82000"/>
                  </a:schemeClr>
                </a:solidFill>
              </a:defRPr>
            </a:lvl8pPr>
            <a:lvl9pPr marL="17548799" indent="0">
              <a:buNone/>
              <a:defRPr sz="7677">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12541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3016974" y="8759197"/>
            <a:ext cx="18650387" cy="208773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22215902" y="8759197"/>
            <a:ext cx="18650387" cy="208773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846CE7D5-CF57-46EF-B807-FDD0502418D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19610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2690" y="1751846"/>
            <a:ext cx="37849314" cy="6359941"/>
          </a:xfrm>
        </p:spPr>
        <p:txBody>
          <a:bodyPr/>
          <a:lstStyle/>
          <a:p>
            <a:r>
              <a:rPr lang="en-GB"/>
              <a:t>Click to edit Master title style</a:t>
            </a:r>
            <a:endParaRPr lang="en-US"/>
          </a:p>
        </p:txBody>
      </p:sp>
      <p:sp>
        <p:nvSpPr>
          <p:cNvPr id="3" name="Text Placeholder 2"/>
          <p:cNvSpPr>
            <a:spLocks noGrp="1"/>
          </p:cNvSpPr>
          <p:nvPr>
            <p:ph type="body" idx="1"/>
          </p:nvPr>
        </p:nvSpPr>
        <p:spPr>
          <a:xfrm>
            <a:off x="3022695" y="8066080"/>
            <a:ext cx="18564674" cy="3953061"/>
          </a:xfrm>
        </p:spPr>
        <p:txBody>
          <a:bodyPr anchor="b"/>
          <a:lstStyle>
            <a:lvl1pPr marL="0" indent="0">
              <a:buNone/>
              <a:defRPr sz="11515" b="1"/>
            </a:lvl1pPr>
            <a:lvl2pPr marL="2193600" indent="0">
              <a:buNone/>
              <a:defRPr sz="9596" b="1"/>
            </a:lvl2pPr>
            <a:lvl3pPr marL="4387200" indent="0">
              <a:buNone/>
              <a:defRPr sz="8636" b="1"/>
            </a:lvl3pPr>
            <a:lvl4pPr marL="6580800" indent="0">
              <a:buNone/>
              <a:defRPr sz="7677" b="1"/>
            </a:lvl4pPr>
            <a:lvl5pPr marL="8774400" indent="0">
              <a:buNone/>
              <a:defRPr sz="7677" b="1"/>
            </a:lvl5pPr>
            <a:lvl6pPr marL="10967999" indent="0">
              <a:buNone/>
              <a:defRPr sz="7677" b="1"/>
            </a:lvl6pPr>
            <a:lvl7pPr marL="13161599" indent="0">
              <a:buNone/>
              <a:defRPr sz="7677" b="1"/>
            </a:lvl7pPr>
            <a:lvl8pPr marL="15355199" indent="0">
              <a:buNone/>
              <a:defRPr sz="7677" b="1"/>
            </a:lvl8pPr>
            <a:lvl9pPr marL="17548799" indent="0">
              <a:buNone/>
              <a:defRPr sz="7677" b="1"/>
            </a:lvl9pPr>
          </a:lstStyle>
          <a:p>
            <a:pPr lvl="0"/>
            <a:r>
              <a:rPr lang="en-GB"/>
              <a:t>Click to edit Master text styles</a:t>
            </a:r>
          </a:p>
        </p:txBody>
      </p:sp>
      <p:sp>
        <p:nvSpPr>
          <p:cNvPr id="4" name="Content Placeholder 3"/>
          <p:cNvSpPr>
            <a:spLocks noGrp="1"/>
          </p:cNvSpPr>
          <p:nvPr>
            <p:ph sz="half" idx="2"/>
          </p:nvPr>
        </p:nvSpPr>
        <p:spPr>
          <a:xfrm>
            <a:off x="3022695" y="12019141"/>
            <a:ext cx="18564674" cy="1767834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22215904" y="8066080"/>
            <a:ext cx="18656103" cy="3953061"/>
          </a:xfrm>
        </p:spPr>
        <p:txBody>
          <a:bodyPr anchor="b"/>
          <a:lstStyle>
            <a:lvl1pPr marL="0" indent="0">
              <a:buNone/>
              <a:defRPr sz="11515" b="1"/>
            </a:lvl1pPr>
            <a:lvl2pPr marL="2193600" indent="0">
              <a:buNone/>
              <a:defRPr sz="9596" b="1"/>
            </a:lvl2pPr>
            <a:lvl3pPr marL="4387200" indent="0">
              <a:buNone/>
              <a:defRPr sz="8636" b="1"/>
            </a:lvl3pPr>
            <a:lvl4pPr marL="6580800" indent="0">
              <a:buNone/>
              <a:defRPr sz="7677" b="1"/>
            </a:lvl4pPr>
            <a:lvl5pPr marL="8774400" indent="0">
              <a:buNone/>
              <a:defRPr sz="7677" b="1"/>
            </a:lvl5pPr>
            <a:lvl6pPr marL="10967999" indent="0">
              <a:buNone/>
              <a:defRPr sz="7677" b="1"/>
            </a:lvl6pPr>
            <a:lvl7pPr marL="13161599" indent="0">
              <a:buNone/>
              <a:defRPr sz="7677" b="1"/>
            </a:lvl7pPr>
            <a:lvl8pPr marL="15355199" indent="0">
              <a:buNone/>
              <a:defRPr sz="7677" b="1"/>
            </a:lvl8pPr>
            <a:lvl9pPr marL="17548799" indent="0">
              <a:buNone/>
              <a:defRPr sz="7677" b="1"/>
            </a:lvl9pPr>
          </a:lstStyle>
          <a:p>
            <a:pPr lvl="0"/>
            <a:r>
              <a:rPr lang="en-GB"/>
              <a:t>Click to edit Master text styles</a:t>
            </a:r>
          </a:p>
        </p:txBody>
      </p:sp>
      <p:sp>
        <p:nvSpPr>
          <p:cNvPr id="6" name="Content Placeholder 5"/>
          <p:cNvSpPr>
            <a:spLocks noGrp="1"/>
          </p:cNvSpPr>
          <p:nvPr>
            <p:ph sz="quarter" idx="4"/>
          </p:nvPr>
        </p:nvSpPr>
        <p:spPr>
          <a:xfrm>
            <a:off x="22215904" y="12019141"/>
            <a:ext cx="18656103" cy="1767834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846CE7D5-CF57-46EF-B807-FDD0502418D4}" type="datetimeFigureOut">
              <a:rPr lang="en-US" smtClean="0"/>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314831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846CE7D5-CF57-46EF-B807-FDD0502418D4}" type="datetimeFigureOut">
              <a:rPr lang="en-US" smtClean="0"/>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77635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176128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2690" y="2193608"/>
            <a:ext cx="14153495" cy="7677626"/>
          </a:xfrm>
        </p:spPr>
        <p:txBody>
          <a:bodyPr anchor="b"/>
          <a:lstStyle>
            <a:lvl1pPr>
              <a:defRPr sz="15353"/>
            </a:lvl1pPr>
          </a:lstStyle>
          <a:p>
            <a:r>
              <a:rPr lang="en-GB"/>
              <a:t>Click to edit Master title style</a:t>
            </a:r>
            <a:endParaRPr lang="en-US"/>
          </a:p>
        </p:txBody>
      </p:sp>
      <p:sp>
        <p:nvSpPr>
          <p:cNvPr id="3" name="Content Placeholder 2"/>
          <p:cNvSpPr>
            <a:spLocks noGrp="1"/>
          </p:cNvSpPr>
          <p:nvPr>
            <p:ph idx="1"/>
          </p:nvPr>
        </p:nvSpPr>
        <p:spPr>
          <a:xfrm>
            <a:off x="18656102" y="4737590"/>
            <a:ext cx="22215902" cy="23383247"/>
          </a:xfrm>
        </p:spPr>
        <p:txBody>
          <a:bodyPr/>
          <a:lstStyle>
            <a:lvl1pPr>
              <a:defRPr sz="15353"/>
            </a:lvl1pPr>
            <a:lvl2pPr>
              <a:defRPr sz="13434"/>
            </a:lvl2pPr>
            <a:lvl3pPr>
              <a:defRPr sz="11515"/>
            </a:lvl3pPr>
            <a:lvl4pPr>
              <a:defRPr sz="9596"/>
            </a:lvl4pPr>
            <a:lvl5pPr>
              <a:defRPr sz="9596"/>
            </a:lvl5pPr>
            <a:lvl6pPr>
              <a:defRPr sz="9596"/>
            </a:lvl6pPr>
            <a:lvl7pPr>
              <a:defRPr sz="9596"/>
            </a:lvl7pPr>
            <a:lvl8pPr>
              <a:defRPr sz="9596"/>
            </a:lvl8pPr>
            <a:lvl9pPr>
              <a:defRPr sz="9596"/>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3022690" y="9871234"/>
            <a:ext cx="14153495" cy="18287682"/>
          </a:xfrm>
        </p:spPr>
        <p:txBody>
          <a:bodyPr/>
          <a:lstStyle>
            <a:lvl1pPr marL="0" indent="0">
              <a:buNone/>
              <a:defRPr sz="7677"/>
            </a:lvl1pPr>
            <a:lvl2pPr marL="2193600" indent="0">
              <a:buNone/>
              <a:defRPr sz="6717"/>
            </a:lvl2pPr>
            <a:lvl3pPr marL="4387200" indent="0">
              <a:buNone/>
              <a:defRPr sz="5757"/>
            </a:lvl3pPr>
            <a:lvl4pPr marL="6580800" indent="0">
              <a:buNone/>
              <a:defRPr sz="4798"/>
            </a:lvl4pPr>
            <a:lvl5pPr marL="8774400" indent="0">
              <a:buNone/>
              <a:defRPr sz="4798"/>
            </a:lvl5pPr>
            <a:lvl6pPr marL="10967999" indent="0">
              <a:buNone/>
              <a:defRPr sz="4798"/>
            </a:lvl6pPr>
            <a:lvl7pPr marL="13161599" indent="0">
              <a:buNone/>
              <a:defRPr sz="4798"/>
            </a:lvl7pPr>
            <a:lvl8pPr marL="15355199" indent="0">
              <a:buNone/>
              <a:defRPr sz="4798"/>
            </a:lvl8pPr>
            <a:lvl9pPr marL="17548799" indent="0">
              <a:buNone/>
              <a:defRPr sz="4798"/>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782671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2690" y="2193608"/>
            <a:ext cx="14153495" cy="7677626"/>
          </a:xfrm>
        </p:spPr>
        <p:txBody>
          <a:bodyPr anchor="b"/>
          <a:lstStyle>
            <a:lvl1pPr>
              <a:defRPr sz="15353"/>
            </a:lvl1pPr>
          </a:lstStyle>
          <a:p>
            <a:r>
              <a:rPr lang="en-GB"/>
              <a:t>Click to edit Master title style</a:t>
            </a:r>
            <a:endParaRPr lang="en-US"/>
          </a:p>
        </p:txBody>
      </p:sp>
      <p:sp>
        <p:nvSpPr>
          <p:cNvPr id="3" name="Picture Placeholder 2"/>
          <p:cNvSpPr>
            <a:spLocks noGrp="1" noChangeAspect="1"/>
          </p:cNvSpPr>
          <p:nvPr>
            <p:ph type="pic" idx="1"/>
          </p:nvPr>
        </p:nvSpPr>
        <p:spPr>
          <a:xfrm>
            <a:off x="18656102" y="4737590"/>
            <a:ext cx="22215902" cy="23383247"/>
          </a:xfrm>
        </p:spPr>
        <p:txBody>
          <a:bodyPr anchor="t"/>
          <a:lstStyle>
            <a:lvl1pPr marL="0" indent="0">
              <a:buNone/>
              <a:defRPr sz="15353"/>
            </a:lvl1pPr>
            <a:lvl2pPr marL="2193600" indent="0">
              <a:buNone/>
              <a:defRPr sz="13434"/>
            </a:lvl2pPr>
            <a:lvl3pPr marL="4387200" indent="0">
              <a:buNone/>
              <a:defRPr sz="11515"/>
            </a:lvl3pPr>
            <a:lvl4pPr marL="6580800" indent="0">
              <a:buNone/>
              <a:defRPr sz="9596"/>
            </a:lvl4pPr>
            <a:lvl5pPr marL="8774400" indent="0">
              <a:buNone/>
              <a:defRPr sz="9596"/>
            </a:lvl5pPr>
            <a:lvl6pPr marL="10967999" indent="0">
              <a:buNone/>
              <a:defRPr sz="9596"/>
            </a:lvl6pPr>
            <a:lvl7pPr marL="13161599" indent="0">
              <a:buNone/>
              <a:defRPr sz="9596"/>
            </a:lvl7pPr>
            <a:lvl8pPr marL="15355199" indent="0">
              <a:buNone/>
              <a:defRPr sz="9596"/>
            </a:lvl8pPr>
            <a:lvl9pPr marL="17548799" indent="0">
              <a:buNone/>
              <a:defRPr sz="9596"/>
            </a:lvl9pPr>
          </a:lstStyle>
          <a:p>
            <a:r>
              <a:rPr lang="en-GB"/>
              <a:t>Click icon to add picture</a:t>
            </a:r>
            <a:endParaRPr lang="en-US"/>
          </a:p>
        </p:txBody>
      </p:sp>
      <p:sp>
        <p:nvSpPr>
          <p:cNvPr id="4" name="Text Placeholder 3"/>
          <p:cNvSpPr>
            <a:spLocks noGrp="1"/>
          </p:cNvSpPr>
          <p:nvPr>
            <p:ph type="body" sz="half" idx="2"/>
          </p:nvPr>
        </p:nvSpPr>
        <p:spPr>
          <a:xfrm>
            <a:off x="3022690" y="9871234"/>
            <a:ext cx="14153495" cy="18287682"/>
          </a:xfrm>
        </p:spPr>
        <p:txBody>
          <a:bodyPr/>
          <a:lstStyle>
            <a:lvl1pPr marL="0" indent="0">
              <a:buNone/>
              <a:defRPr sz="7677"/>
            </a:lvl1pPr>
            <a:lvl2pPr marL="2193600" indent="0">
              <a:buNone/>
              <a:defRPr sz="6717"/>
            </a:lvl2pPr>
            <a:lvl3pPr marL="4387200" indent="0">
              <a:buNone/>
              <a:defRPr sz="5757"/>
            </a:lvl3pPr>
            <a:lvl4pPr marL="6580800" indent="0">
              <a:buNone/>
              <a:defRPr sz="4798"/>
            </a:lvl4pPr>
            <a:lvl5pPr marL="8774400" indent="0">
              <a:buNone/>
              <a:defRPr sz="4798"/>
            </a:lvl5pPr>
            <a:lvl6pPr marL="10967999" indent="0">
              <a:buNone/>
              <a:defRPr sz="4798"/>
            </a:lvl6pPr>
            <a:lvl7pPr marL="13161599" indent="0">
              <a:buNone/>
              <a:defRPr sz="4798"/>
            </a:lvl7pPr>
            <a:lvl8pPr marL="15355199" indent="0">
              <a:buNone/>
              <a:defRPr sz="4798"/>
            </a:lvl8pPr>
            <a:lvl9pPr marL="17548799" indent="0">
              <a:buNone/>
              <a:defRPr sz="4798"/>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212807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846CE7D5-CF57-46EF-B807-FDD0502418D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59318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3962" y="1751839"/>
            <a:ext cx="9462329" cy="2788471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3016977" y="1751839"/>
            <a:ext cx="27838445" cy="2788471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846CE7D5-CF57-46EF-B807-FDD0502418D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75300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6975" y="1751846"/>
            <a:ext cx="37849314" cy="6359941"/>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3016975" y="8759197"/>
            <a:ext cx="37849314" cy="2087735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3016974" y="30497245"/>
            <a:ext cx="9873734" cy="1751839"/>
          </a:xfrm>
          <a:prstGeom prst="rect">
            <a:avLst/>
          </a:prstGeom>
        </p:spPr>
        <p:txBody>
          <a:bodyPr vert="horz" lIns="91440" tIns="45720" rIns="91440" bIns="45720" rtlCol="0" anchor="ctr"/>
          <a:lstStyle>
            <a:lvl1pPr algn="l">
              <a:defRPr sz="5757">
                <a:solidFill>
                  <a:schemeClr val="tx1">
                    <a:tint val="82000"/>
                  </a:schemeClr>
                </a:solidFill>
              </a:defRPr>
            </a:lvl1pPr>
          </a:lstStyle>
          <a:p>
            <a:fld id="{846CE7D5-CF57-46EF-B807-FDD0502418D4}" type="datetimeFigureOut">
              <a:rPr lang="en-US" smtClean="0"/>
              <a:t>6/8/2026</a:t>
            </a:fld>
            <a:endParaRPr lang="en-US"/>
          </a:p>
        </p:txBody>
      </p:sp>
      <p:sp>
        <p:nvSpPr>
          <p:cNvPr id="5" name="Footer Placeholder 4"/>
          <p:cNvSpPr>
            <a:spLocks noGrp="1"/>
          </p:cNvSpPr>
          <p:nvPr>
            <p:ph type="ftr" sz="quarter" idx="3"/>
          </p:nvPr>
        </p:nvSpPr>
        <p:spPr>
          <a:xfrm>
            <a:off x="14536331" y="30497245"/>
            <a:ext cx="14810601" cy="1751839"/>
          </a:xfrm>
          <a:prstGeom prst="rect">
            <a:avLst/>
          </a:prstGeom>
        </p:spPr>
        <p:txBody>
          <a:bodyPr vert="horz" lIns="91440" tIns="45720" rIns="91440" bIns="45720" rtlCol="0" anchor="ctr"/>
          <a:lstStyle>
            <a:lvl1pPr algn="ctr">
              <a:defRPr sz="5757">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2555" y="30497245"/>
            <a:ext cx="9873734" cy="1751839"/>
          </a:xfrm>
          <a:prstGeom prst="rect">
            <a:avLst/>
          </a:prstGeom>
        </p:spPr>
        <p:txBody>
          <a:bodyPr vert="horz" lIns="91440" tIns="45720" rIns="91440" bIns="45720" rtlCol="0" anchor="ctr"/>
          <a:lstStyle>
            <a:lvl1pPr algn="r">
              <a:defRPr sz="5757">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175611127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4387200" rtl="0" eaLnBrk="1" latinLnBrk="0" hangingPunct="1">
        <a:lnSpc>
          <a:spcPct val="90000"/>
        </a:lnSpc>
        <a:spcBef>
          <a:spcPct val="0"/>
        </a:spcBef>
        <a:buNone/>
        <a:defRPr sz="21111" kern="1200">
          <a:solidFill>
            <a:schemeClr val="tx1"/>
          </a:solidFill>
          <a:latin typeface="+mj-lt"/>
          <a:ea typeface="+mj-ea"/>
          <a:cs typeface="+mj-cs"/>
        </a:defRPr>
      </a:lvl1pPr>
    </p:titleStyle>
    <p:bodyStyle>
      <a:lvl1pPr marL="1096800" indent="-1096800" algn="l" defTabSz="4387200" rtl="0" eaLnBrk="1" latinLnBrk="0" hangingPunct="1">
        <a:lnSpc>
          <a:spcPct val="90000"/>
        </a:lnSpc>
        <a:spcBef>
          <a:spcPts val="4798"/>
        </a:spcBef>
        <a:buFont typeface="Arial" panose="020B0604020202020204" pitchFamily="34" charset="0"/>
        <a:buChar char="•"/>
        <a:defRPr sz="13434" kern="1200">
          <a:solidFill>
            <a:schemeClr val="tx1"/>
          </a:solidFill>
          <a:latin typeface="+mn-lt"/>
          <a:ea typeface="+mn-ea"/>
          <a:cs typeface="+mn-cs"/>
        </a:defRPr>
      </a:lvl1pPr>
      <a:lvl2pPr marL="3290400" indent="-1096800" algn="l" defTabSz="4387200" rtl="0" eaLnBrk="1" latinLnBrk="0" hangingPunct="1">
        <a:lnSpc>
          <a:spcPct val="90000"/>
        </a:lnSpc>
        <a:spcBef>
          <a:spcPts val="2399"/>
        </a:spcBef>
        <a:buFont typeface="Arial" panose="020B0604020202020204" pitchFamily="34" charset="0"/>
        <a:buChar char="•"/>
        <a:defRPr sz="11515" kern="1200">
          <a:solidFill>
            <a:schemeClr val="tx1"/>
          </a:solidFill>
          <a:latin typeface="+mn-lt"/>
          <a:ea typeface="+mn-ea"/>
          <a:cs typeface="+mn-cs"/>
        </a:defRPr>
      </a:lvl2pPr>
      <a:lvl3pPr marL="5484000" indent="-1096800" algn="l" defTabSz="4387200" rtl="0" eaLnBrk="1" latinLnBrk="0" hangingPunct="1">
        <a:lnSpc>
          <a:spcPct val="90000"/>
        </a:lnSpc>
        <a:spcBef>
          <a:spcPts val="2399"/>
        </a:spcBef>
        <a:buFont typeface="Arial" panose="020B0604020202020204" pitchFamily="34" charset="0"/>
        <a:buChar char="•"/>
        <a:defRPr sz="9596" kern="1200">
          <a:solidFill>
            <a:schemeClr val="tx1"/>
          </a:solidFill>
          <a:latin typeface="+mn-lt"/>
          <a:ea typeface="+mn-ea"/>
          <a:cs typeface="+mn-cs"/>
        </a:defRPr>
      </a:lvl3pPr>
      <a:lvl4pPr marL="7677600" indent="-1096800" algn="l" defTabSz="4387200" rtl="0" eaLnBrk="1" latinLnBrk="0" hangingPunct="1">
        <a:lnSpc>
          <a:spcPct val="90000"/>
        </a:lnSpc>
        <a:spcBef>
          <a:spcPts val="2399"/>
        </a:spcBef>
        <a:buFont typeface="Arial" panose="020B0604020202020204" pitchFamily="34" charset="0"/>
        <a:buChar char="•"/>
        <a:defRPr sz="8636" kern="1200">
          <a:solidFill>
            <a:schemeClr val="tx1"/>
          </a:solidFill>
          <a:latin typeface="+mn-lt"/>
          <a:ea typeface="+mn-ea"/>
          <a:cs typeface="+mn-cs"/>
        </a:defRPr>
      </a:lvl4pPr>
      <a:lvl5pPr marL="9871199" indent="-1096800" algn="l" defTabSz="4387200" rtl="0" eaLnBrk="1" latinLnBrk="0" hangingPunct="1">
        <a:lnSpc>
          <a:spcPct val="90000"/>
        </a:lnSpc>
        <a:spcBef>
          <a:spcPts val="2399"/>
        </a:spcBef>
        <a:buFont typeface="Arial" panose="020B0604020202020204" pitchFamily="34" charset="0"/>
        <a:buChar char="•"/>
        <a:defRPr sz="8636" kern="1200">
          <a:solidFill>
            <a:schemeClr val="tx1"/>
          </a:solidFill>
          <a:latin typeface="+mn-lt"/>
          <a:ea typeface="+mn-ea"/>
          <a:cs typeface="+mn-cs"/>
        </a:defRPr>
      </a:lvl5pPr>
      <a:lvl6pPr marL="12064799" indent="-1096800" algn="l" defTabSz="4387200" rtl="0" eaLnBrk="1" latinLnBrk="0" hangingPunct="1">
        <a:lnSpc>
          <a:spcPct val="90000"/>
        </a:lnSpc>
        <a:spcBef>
          <a:spcPts val="2399"/>
        </a:spcBef>
        <a:buFont typeface="Arial" panose="020B0604020202020204" pitchFamily="34" charset="0"/>
        <a:buChar char="•"/>
        <a:defRPr sz="8636" kern="1200">
          <a:solidFill>
            <a:schemeClr val="tx1"/>
          </a:solidFill>
          <a:latin typeface="+mn-lt"/>
          <a:ea typeface="+mn-ea"/>
          <a:cs typeface="+mn-cs"/>
        </a:defRPr>
      </a:lvl6pPr>
      <a:lvl7pPr marL="14258399" indent="-1096800" algn="l" defTabSz="4387200" rtl="0" eaLnBrk="1" latinLnBrk="0" hangingPunct="1">
        <a:lnSpc>
          <a:spcPct val="90000"/>
        </a:lnSpc>
        <a:spcBef>
          <a:spcPts val="2399"/>
        </a:spcBef>
        <a:buFont typeface="Arial" panose="020B0604020202020204" pitchFamily="34" charset="0"/>
        <a:buChar char="•"/>
        <a:defRPr sz="8636" kern="1200">
          <a:solidFill>
            <a:schemeClr val="tx1"/>
          </a:solidFill>
          <a:latin typeface="+mn-lt"/>
          <a:ea typeface="+mn-ea"/>
          <a:cs typeface="+mn-cs"/>
        </a:defRPr>
      </a:lvl7pPr>
      <a:lvl8pPr marL="16451999" indent="-1096800" algn="l" defTabSz="4387200" rtl="0" eaLnBrk="1" latinLnBrk="0" hangingPunct="1">
        <a:lnSpc>
          <a:spcPct val="90000"/>
        </a:lnSpc>
        <a:spcBef>
          <a:spcPts val="2399"/>
        </a:spcBef>
        <a:buFont typeface="Arial" panose="020B0604020202020204" pitchFamily="34" charset="0"/>
        <a:buChar char="•"/>
        <a:defRPr sz="8636" kern="1200">
          <a:solidFill>
            <a:schemeClr val="tx1"/>
          </a:solidFill>
          <a:latin typeface="+mn-lt"/>
          <a:ea typeface="+mn-ea"/>
          <a:cs typeface="+mn-cs"/>
        </a:defRPr>
      </a:lvl8pPr>
      <a:lvl9pPr marL="18645599" indent="-1096800" algn="l" defTabSz="4387200" rtl="0" eaLnBrk="1" latinLnBrk="0" hangingPunct="1">
        <a:lnSpc>
          <a:spcPct val="90000"/>
        </a:lnSpc>
        <a:spcBef>
          <a:spcPts val="2399"/>
        </a:spcBef>
        <a:buFont typeface="Arial" panose="020B0604020202020204" pitchFamily="34" charset="0"/>
        <a:buChar char="•"/>
        <a:defRPr sz="8636" kern="1200">
          <a:solidFill>
            <a:schemeClr val="tx1"/>
          </a:solidFill>
          <a:latin typeface="+mn-lt"/>
          <a:ea typeface="+mn-ea"/>
          <a:cs typeface="+mn-cs"/>
        </a:defRPr>
      </a:lvl9pPr>
    </p:bodyStyle>
    <p:otherStyle>
      <a:defPPr>
        <a:defRPr lang="en-US"/>
      </a:defPPr>
      <a:lvl1pPr marL="0" algn="l" defTabSz="4387200" rtl="0" eaLnBrk="1" latinLnBrk="0" hangingPunct="1">
        <a:defRPr sz="8636" kern="1200">
          <a:solidFill>
            <a:schemeClr val="tx1"/>
          </a:solidFill>
          <a:latin typeface="+mn-lt"/>
          <a:ea typeface="+mn-ea"/>
          <a:cs typeface="+mn-cs"/>
        </a:defRPr>
      </a:lvl1pPr>
      <a:lvl2pPr marL="2193600" algn="l" defTabSz="4387200" rtl="0" eaLnBrk="1" latinLnBrk="0" hangingPunct="1">
        <a:defRPr sz="8636" kern="1200">
          <a:solidFill>
            <a:schemeClr val="tx1"/>
          </a:solidFill>
          <a:latin typeface="+mn-lt"/>
          <a:ea typeface="+mn-ea"/>
          <a:cs typeface="+mn-cs"/>
        </a:defRPr>
      </a:lvl2pPr>
      <a:lvl3pPr marL="4387200" algn="l" defTabSz="4387200" rtl="0" eaLnBrk="1" latinLnBrk="0" hangingPunct="1">
        <a:defRPr sz="8636" kern="1200">
          <a:solidFill>
            <a:schemeClr val="tx1"/>
          </a:solidFill>
          <a:latin typeface="+mn-lt"/>
          <a:ea typeface="+mn-ea"/>
          <a:cs typeface="+mn-cs"/>
        </a:defRPr>
      </a:lvl3pPr>
      <a:lvl4pPr marL="6580800" algn="l" defTabSz="4387200" rtl="0" eaLnBrk="1" latinLnBrk="0" hangingPunct="1">
        <a:defRPr sz="8636" kern="1200">
          <a:solidFill>
            <a:schemeClr val="tx1"/>
          </a:solidFill>
          <a:latin typeface="+mn-lt"/>
          <a:ea typeface="+mn-ea"/>
          <a:cs typeface="+mn-cs"/>
        </a:defRPr>
      </a:lvl4pPr>
      <a:lvl5pPr marL="8774400" algn="l" defTabSz="4387200" rtl="0" eaLnBrk="1" latinLnBrk="0" hangingPunct="1">
        <a:defRPr sz="8636" kern="1200">
          <a:solidFill>
            <a:schemeClr val="tx1"/>
          </a:solidFill>
          <a:latin typeface="+mn-lt"/>
          <a:ea typeface="+mn-ea"/>
          <a:cs typeface="+mn-cs"/>
        </a:defRPr>
      </a:lvl5pPr>
      <a:lvl6pPr marL="10967999" algn="l" defTabSz="4387200" rtl="0" eaLnBrk="1" latinLnBrk="0" hangingPunct="1">
        <a:defRPr sz="8636" kern="1200">
          <a:solidFill>
            <a:schemeClr val="tx1"/>
          </a:solidFill>
          <a:latin typeface="+mn-lt"/>
          <a:ea typeface="+mn-ea"/>
          <a:cs typeface="+mn-cs"/>
        </a:defRPr>
      </a:lvl6pPr>
      <a:lvl7pPr marL="13161599" algn="l" defTabSz="4387200" rtl="0" eaLnBrk="1" latinLnBrk="0" hangingPunct="1">
        <a:defRPr sz="8636" kern="1200">
          <a:solidFill>
            <a:schemeClr val="tx1"/>
          </a:solidFill>
          <a:latin typeface="+mn-lt"/>
          <a:ea typeface="+mn-ea"/>
          <a:cs typeface="+mn-cs"/>
        </a:defRPr>
      </a:lvl7pPr>
      <a:lvl8pPr marL="15355199" algn="l" defTabSz="4387200" rtl="0" eaLnBrk="1" latinLnBrk="0" hangingPunct="1">
        <a:defRPr sz="8636" kern="1200">
          <a:solidFill>
            <a:schemeClr val="tx1"/>
          </a:solidFill>
          <a:latin typeface="+mn-lt"/>
          <a:ea typeface="+mn-ea"/>
          <a:cs typeface="+mn-cs"/>
        </a:defRPr>
      </a:lvl8pPr>
      <a:lvl9pPr marL="17548799" algn="l" defTabSz="4387200" rtl="0" eaLnBrk="1" latinLnBrk="0" hangingPunct="1">
        <a:defRPr sz="863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microsoft.com/office/2007/relationships/diagramDrawing" Target="../diagrams/drawing1.xml"/><Relationship Id="rId18" Type="http://schemas.openxmlformats.org/officeDocument/2006/relationships/image" Target="../media/image12.png"/><Relationship Id="rId3" Type="http://schemas.openxmlformats.org/officeDocument/2006/relationships/image" Target="../media/image2.svg"/><Relationship Id="rId7" Type="http://schemas.openxmlformats.org/officeDocument/2006/relationships/image" Target="../media/image6.png"/><Relationship Id="rId12" Type="http://schemas.openxmlformats.org/officeDocument/2006/relationships/diagramColors" Target="../diagrams/colors1.xml"/><Relationship Id="rId17" Type="http://schemas.openxmlformats.org/officeDocument/2006/relationships/image" Target="../media/image11.jpeg"/><Relationship Id="rId2" Type="http://schemas.openxmlformats.org/officeDocument/2006/relationships/image" Target="../media/image1.png"/><Relationship Id="rId16" Type="http://schemas.openxmlformats.org/officeDocument/2006/relationships/image" Target="../media/image10.png"/><Relationship Id="rId20"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diagramQuickStyle" Target="../diagrams/quickStyle1.xml"/><Relationship Id="rId5" Type="http://schemas.openxmlformats.org/officeDocument/2006/relationships/image" Target="../media/image4.png"/><Relationship Id="rId15" Type="http://schemas.openxmlformats.org/officeDocument/2006/relationships/image" Target="../media/image9.png"/><Relationship Id="rId10" Type="http://schemas.openxmlformats.org/officeDocument/2006/relationships/diagramLayout" Target="../diagrams/layout1.xml"/><Relationship Id="rId19" Type="http://schemas.openxmlformats.org/officeDocument/2006/relationships/image" Target="../media/image13.jpeg"/><Relationship Id="rId4" Type="http://schemas.openxmlformats.org/officeDocument/2006/relationships/image" Target="../media/image3.png"/><Relationship Id="rId9" Type="http://schemas.openxmlformats.org/officeDocument/2006/relationships/diagramData" Target="../diagrams/data1.xml"/><Relationship Id="rId1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04DB6B-8B96-DEF8-6432-F73AE1121A79}"/>
              </a:ext>
            </a:extLst>
          </p:cNvPr>
          <p:cNvSpPr txBox="1"/>
          <p:nvPr/>
        </p:nvSpPr>
        <p:spPr>
          <a:xfrm>
            <a:off x="34978302" y="2853584"/>
            <a:ext cx="8913215" cy="1126373"/>
          </a:xfrm>
          <a:prstGeom prst="rect">
            <a:avLst/>
          </a:prstGeom>
          <a:solidFill>
            <a:schemeClr val="bg1">
              <a:lumMod val="95000"/>
            </a:schemeClr>
          </a:solidFill>
        </p:spPr>
        <p:txBody>
          <a:bodyPr rot="0" spcFirstLastPara="0" vertOverflow="overflow" horzOverflow="overflow" vert="horz" wrap="square" lIns="115481" tIns="57741" rIns="115481" bIns="57741" numCol="1" spcCol="0" rtlCol="0" fromWordArt="0" anchor="t" anchorCtr="0" forceAA="0" compatLnSpc="1">
            <a:prstTxWarp prst="textNoShape">
              <a:avLst/>
            </a:prstTxWarp>
            <a:spAutoFit/>
          </a:bodyPr>
          <a:lstStyle/>
          <a:p>
            <a:r>
              <a:rPr lang="en-US" sz="3281">
                <a:latin typeface="Calibri" panose="020F0502020204030204" pitchFamily="34" charset="0"/>
                <a:ea typeface="Calibri" panose="020F0502020204030204" pitchFamily="34" charset="0"/>
                <a:cs typeface="Calibri" panose="020F0502020204030204" pitchFamily="34" charset="0"/>
              </a:rPr>
              <a:t>Module Director: Sangita Pokhrel</a:t>
            </a:r>
          </a:p>
          <a:p>
            <a:r>
              <a:rPr lang="en-US" sz="3281">
                <a:latin typeface="Calibri" panose="020F0502020204030204" pitchFamily="34" charset="0"/>
                <a:ea typeface="Calibri" panose="020F0502020204030204" pitchFamily="34" charset="0"/>
                <a:cs typeface="Calibri" panose="020F0502020204030204" pitchFamily="34" charset="0"/>
              </a:rPr>
              <a:t>Student: Olamilekan John Olowolagba  </a:t>
            </a:r>
          </a:p>
        </p:txBody>
      </p:sp>
      <p:sp>
        <p:nvSpPr>
          <p:cNvPr id="3" name="TextBox 2">
            <a:extLst>
              <a:ext uri="{FF2B5EF4-FFF2-40B4-BE49-F238E27FC236}">
                <a16:creationId xmlns:a16="http://schemas.microsoft.com/office/drawing/2014/main" id="{222950C0-1620-8C77-5CBC-0EA8F4306AE0}"/>
              </a:ext>
            </a:extLst>
          </p:cNvPr>
          <p:cNvSpPr txBox="1"/>
          <p:nvPr/>
        </p:nvSpPr>
        <p:spPr>
          <a:xfrm>
            <a:off x="160877" y="5368856"/>
            <a:ext cx="9930534" cy="4037555"/>
          </a:xfrm>
          <a:prstGeom prst="rect">
            <a:avLst/>
          </a:prstGeom>
          <a:noFill/>
        </p:spPr>
        <p:txBody>
          <a:bodyPr rot="0" spcFirstLastPara="0" vertOverflow="overflow" horzOverflow="overflow" vert="horz" wrap="square" lIns="115481" tIns="57741" rIns="115481" bIns="57741" numCol="1" spcCol="0" rtlCol="0" fromWordArt="0" anchor="t" anchorCtr="0" forceAA="0" compatLnSpc="1">
            <a:prstTxWarp prst="textNoShape">
              <a:avLst/>
            </a:prstTxWarp>
            <a:spAutoFit/>
          </a:bodyPr>
          <a:lstStyle/>
          <a:p>
            <a:r>
              <a:rPr lang="en-US" sz="2800">
                <a:latin typeface="Calibri" panose="020F0502020204030204" pitchFamily="34" charset="0"/>
                <a:ea typeface="Calibri" panose="020F0502020204030204" pitchFamily="34" charset="0"/>
                <a:cs typeface="Calibri" panose="020F0502020204030204" pitchFamily="34" charset="0"/>
              </a:rPr>
              <a:t>Why does Climate finance allocation matter?</a:t>
            </a:r>
          </a:p>
          <a:p>
            <a:pPr>
              <a:lnSpc>
                <a:spcPct val="150000"/>
              </a:lnSpc>
            </a:pPr>
            <a:r>
              <a:rPr lang="en-US" sz="2800">
                <a:latin typeface="Calibri" panose="020F0502020204030204" pitchFamily="34" charset="0"/>
                <a:ea typeface="Calibri" panose="020F0502020204030204" pitchFamily="34" charset="0"/>
                <a:cs typeface="Calibri" panose="020F0502020204030204" pitchFamily="34" charset="0"/>
              </a:rPr>
              <a:t>Despite developed country pledges, climate finance allocation remain disproportionate, with middle-income countries receiving greater funding than more vulnerable regions such as Sub-Saharan Africa and South Asia. </a:t>
            </a:r>
          </a:p>
          <a:p>
            <a:endParaRPr lang="en-US" sz="2800">
              <a:latin typeface="Calibri" panose="020F0502020204030204" pitchFamily="34" charset="0"/>
              <a:ea typeface="Calibri" panose="020F0502020204030204" pitchFamily="34" charset="0"/>
              <a:cs typeface="Calibri" panose="020F0502020204030204" pitchFamily="34" charset="0"/>
            </a:endParaRPr>
          </a:p>
          <a:p>
            <a:endParaRPr lang="en-US" sz="3079"/>
          </a:p>
        </p:txBody>
      </p:sp>
      <p:sp>
        <p:nvSpPr>
          <p:cNvPr id="4" name="TextBox 3">
            <a:extLst>
              <a:ext uri="{FF2B5EF4-FFF2-40B4-BE49-F238E27FC236}">
                <a16:creationId xmlns:a16="http://schemas.microsoft.com/office/drawing/2014/main" id="{7C74F025-47C0-E08E-F17F-516BBD3D72C8}"/>
              </a:ext>
            </a:extLst>
          </p:cNvPr>
          <p:cNvSpPr txBox="1"/>
          <p:nvPr/>
        </p:nvSpPr>
        <p:spPr>
          <a:xfrm>
            <a:off x="10526052" y="5185786"/>
            <a:ext cx="9721823" cy="2635120"/>
          </a:xfrm>
          <a:prstGeom prst="rect">
            <a:avLst/>
          </a:prstGeom>
          <a:noFill/>
        </p:spPr>
        <p:txBody>
          <a:bodyPr rot="0" spcFirstLastPara="0" vertOverflow="overflow" horzOverflow="overflow" vert="horz" wrap="square" lIns="115481" tIns="57741" rIns="115481" bIns="57741" numCol="1" spcCol="0" rtlCol="0" fromWordArt="0" anchor="t" anchorCtr="0" forceAA="0" compatLnSpc="1">
            <a:prstTxWarp prst="textNoShape">
              <a:avLst/>
            </a:prstTxWarp>
            <a:spAutoFit/>
          </a:bodyPr>
          <a:lstStyle/>
          <a:p>
            <a:pPr>
              <a:lnSpc>
                <a:spcPct val="150000"/>
              </a:lnSpc>
            </a:pPr>
            <a:r>
              <a:rPr lang="en-US" sz="2800">
                <a:latin typeface="Calibri" panose="020F0502020204030204" pitchFamily="34" charset="0"/>
                <a:ea typeface="Calibri" panose="020F0502020204030204" pitchFamily="34" charset="0"/>
                <a:cs typeface="Calibri" panose="020F0502020204030204" pitchFamily="34" charset="0"/>
              </a:rPr>
              <a:t>Does objective climate vulnerability predict finance allocation? </a:t>
            </a:r>
          </a:p>
          <a:p>
            <a:pPr>
              <a:lnSpc>
                <a:spcPct val="150000"/>
              </a:lnSpc>
            </a:pPr>
            <a:r>
              <a:rPr lang="en-GB" sz="2800">
                <a:latin typeface="Calibri" panose="020F0502020204030204" pitchFamily="34" charset="0"/>
                <a:ea typeface="Calibri" panose="020F0502020204030204" pitchFamily="34" charset="0"/>
                <a:cs typeface="Calibri" panose="020F0502020204030204" pitchFamily="34" charset="0"/>
              </a:rPr>
              <a:t>Equitable climate finance should reflect adaptation and mitigation needs. Yet trends in finance flows indicate a weak alignment with objective measures of vulnerability.</a:t>
            </a:r>
            <a:endParaRPr lang="en-US" sz="280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1624BA0F-1773-2C63-B8BF-4E7E00953593}"/>
              </a:ext>
            </a:extLst>
          </p:cNvPr>
          <p:cNvSpPr txBox="1"/>
          <p:nvPr/>
        </p:nvSpPr>
        <p:spPr>
          <a:xfrm>
            <a:off x="21057345" y="5356367"/>
            <a:ext cx="11186802" cy="5513600"/>
          </a:xfrm>
          <a:prstGeom prst="rect">
            <a:avLst/>
          </a:prstGeom>
          <a:noFill/>
        </p:spPr>
        <p:txBody>
          <a:bodyPr rot="0" spcFirstLastPara="0" vertOverflow="overflow" horzOverflow="overflow" vert="horz" wrap="square" lIns="115481" tIns="57741" rIns="115481" bIns="57741" numCol="1" spcCol="0" rtlCol="0" fromWordArt="0" anchor="t" anchorCtr="0" forceAA="0" compatLnSpc="1">
            <a:prstTxWarp prst="textNoShape">
              <a:avLst/>
            </a:prstTxWarp>
            <a:spAutoFit/>
          </a:bodyPr>
          <a:lstStyle/>
          <a:p>
            <a:r>
              <a:rPr lang="en-US" sz="2800">
                <a:latin typeface="Calibri" panose="020F0502020204030204" pitchFamily="34" charset="0"/>
                <a:ea typeface="Calibri" panose="020F0502020204030204" pitchFamily="34" charset="0"/>
                <a:cs typeface="Calibri" panose="020F0502020204030204" pitchFamily="34" charset="0"/>
              </a:rPr>
              <a:t>Panel dataset: 117 countries, 2000-2023</a:t>
            </a:r>
          </a:p>
          <a:p>
            <a:pPr marL="468747" indent="-468747">
              <a:lnSpc>
                <a:spcPct val="150000"/>
              </a:lnSpc>
              <a:buClr>
                <a:srgbClr val="C00000"/>
              </a:buClr>
              <a:buSzPct val="100000"/>
              <a:buFont typeface="Calibri" panose="020F0502020204030204" pitchFamily="34" charset="0"/>
              <a:buChar char="•"/>
            </a:pPr>
            <a:r>
              <a:rPr lang="en-US" sz="2800">
                <a:latin typeface="Calibri" panose="020F0502020204030204" pitchFamily="34" charset="0"/>
                <a:ea typeface="Calibri" panose="020F0502020204030204" pitchFamily="34" charset="0"/>
                <a:cs typeface="Calibri" panose="020F0502020204030204" pitchFamily="34" charset="0"/>
              </a:rPr>
              <a:t>ND-GAIN country index – vulnerability and readiness</a:t>
            </a:r>
          </a:p>
          <a:p>
            <a:pPr marL="468747" indent="-468747">
              <a:lnSpc>
                <a:spcPct val="150000"/>
              </a:lnSpc>
              <a:buClr>
                <a:schemeClr val="tx2">
                  <a:lumMod val="75000"/>
                  <a:lumOff val="25000"/>
                </a:schemeClr>
              </a:buClr>
              <a:buSzPct val="100000"/>
              <a:buFont typeface="Calibri" panose="020F0502020204030204" pitchFamily="34" charset="0"/>
              <a:buChar char="•"/>
            </a:pPr>
            <a:r>
              <a:rPr lang="en-US" sz="2800">
                <a:latin typeface="Calibri" panose="020F0502020204030204" pitchFamily="34" charset="0"/>
                <a:ea typeface="Calibri" panose="020F0502020204030204" pitchFamily="34" charset="0"/>
                <a:cs typeface="Calibri" panose="020F0502020204030204" pitchFamily="34" charset="0"/>
              </a:rPr>
              <a:t>World Bank Open Data – GDP, population, CO</a:t>
            </a:r>
            <a:r>
              <a:rPr lang="en-US" sz="2800" baseline="-25000">
                <a:latin typeface="Calibri" panose="020F0502020204030204" pitchFamily="34" charset="0"/>
                <a:ea typeface="Calibri" panose="020F0502020204030204" pitchFamily="34" charset="0"/>
                <a:cs typeface="Calibri" panose="020F0502020204030204" pitchFamily="34" charset="0"/>
              </a:rPr>
              <a:t>2</a:t>
            </a:r>
            <a:r>
              <a:rPr lang="en-US" sz="2800">
                <a:latin typeface="Calibri" panose="020F0502020204030204" pitchFamily="34" charset="0"/>
                <a:ea typeface="Calibri" panose="020F0502020204030204" pitchFamily="34" charset="0"/>
                <a:cs typeface="Calibri" panose="020F0502020204030204" pitchFamily="34" charset="0"/>
              </a:rPr>
              <a:t> per capita </a:t>
            </a:r>
            <a:endParaRPr lang="en-US" sz="2800" baseline="-25000">
              <a:latin typeface="Calibri" panose="020F0502020204030204" pitchFamily="34" charset="0"/>
              <a:ea typeface="Calibri" panose="020F0502020204030204" pitchFamily="34" charset="0"/>
              <a:cs typeface="Calibri" panose="020F0502020204030204" pitchFamily="34" charset="0"/>
            </a:endParaRPr>
          </a:p>
          <a:p>
            <a:pPr marL="468747" indent="-468747">
              <a:lnSpc>
                <a:spcPct val="150000"/>
              </a:lnSpc>
              <a:buClr>
                <a:schemeClr val="accent2">
                  <a:lumMod val="75000"/>
                </a:schemeClr>
              </a:buClr>
              <a:buFont typeface="Calibri" panose="020F0502020204030204" pitchFamily="34" charset="0"/>
              <a:buChar char="•"/>
            </a:pPr>
            <a:r>
              <a:rPr lang="en-US" sz="2800">
                <a:latin typeface="Calibri" panose="020F0502020204030204" pitchFamily="34" charset="0"/>
                <a:ea typeface="Calibri" panose="020F0502020204030204" pitchFamily="34" charset="0"/>
                <a:cs typeface="Calibri" panose="020F0502020204030204" pitchFamily="34" charset="0"/>
              </a:rPr>
              <a:t>EM-DAT (CRED) – disaster economic losses by country-year</a:t>
            </a:r>
          </a:p>
          <a:p>
            <a:pPr marL="468747" indent="-468747">
              <a:lnSpc>
                <a:spcPct val="150000"/>
              </a:lnSpc>
              <a:buClr>
                <a:srgbClr val="584300"/>
              </a:buClr>
              <a:buFont typeface="Calibri" panose="020F0502020204030204" pitchFamily="34" charset="0"/>
              <a:buChar char="•"/>
            </a:pPr>
            <a:r>
              <a:rPr lang="en-US" sz="2800">
                <a:latin typeface="Calibri" panose="020F0502020204030204" pitchFamily="34" charset="0"/>
                <a:ea typeface="Calibri" panose="020F0502020204030204" pitchFamily="34" charset="0"/>
                <a:cs typeface="Calibri" panose="020F0502020204030204" pitchFamily="34" charset="0"/>
              </a:rPr>
              <a:t>OECD (CRDF) – Climate related development finance by country-year</a:t>
            </a:r>
          </a:p>
          <a:p>
            <a:pPr>
              <a:lnSpc>
                <a:spcPct val="150000"/>
              </a:lnSpc>
            </a:pPr>
            <a:endParaRPr lang="en-US" sz="280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2800">
                <a:latin typeface="Calibri" panose="020F0502020204030204" pitchFamily="34" charset="0"/>
                <a:ea typeface="Calibri" panose="020F0502020204030204" pitchFamily="34" charset="0"/>
                <a:cs typeface="Calibri" panose="020F0502020204030204" pitchFamily="34" charset="0"/>
              </a:rPr>
              <a:t>All sources are open access. Merged on ISO 3166 country-codes. </a:t>
            </a:r>
          </a:p>
          <a:p>
            <a:pPr>
              <a:lnSpc>
                <a:spcPct val="150000"/>
              </a:lnSpc>
            </a:pPr>
            <a:r>
              <a:rPr lang="en-US" sz="2800">
                <a:latin typeface="Calibri" panose="020F0502020204030204" pitchFamily="34" charset="0"/>
                <a:ea typeface="Calibri" panose="020F0502020204030204" pitchFamily="34" charset="0"/>
                <a:cs typeface="Calibri" panose="020F0502020204030204" pitchFamily="34" charset="0"/>
              </a:rPr>
              <a:t>ND-GAIN scores averaged across all available years for robustness </a:t>
            </a:r>
          </a:p>
          <a:p>
            <a:endParaRPr lang="en-US" sz="2871">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34AE1DF-38CC-6733-F2CB-F89B6F7C4DDA}"/>
              </a:ext>
            </a:extLst>
          </p:cNvPr>
          <p:cNvSpPr txBox="1"/>
          <p:nvPr/>
        </p:nvSpPr>
        <p:spPr>
          <a:xfrm>
            <a:off x="32746510" y="5271536"/>
            <a:ext cx="10655188" cy="4574112"/>
          </a:xfrm>
          <a:prstGeom prst="rect">
            <a:avLst/>
          </a:prstGeom>
          <a:noFill/>
        </p:spPr>
        <p:txBody>
          <a:bodyPr rot="0" spcFirstLastPara="0" vertOverflow="overflow" horzOverflow="overflow" vert="horz" wrap="square" lIns="115481" tIns="57741" rIns="115481" bIns="57741" numCol="1" spcCol="0" rtlCol="0" fromWordArt="0" anchor="t" anchorCtr="0" forceAA="0" compatLnSpc="1">
            <a:prstTxWarp prst="textNoShape">
              <a:avLst/>
            </a:prstTxWarp>
            <a:spAutoFit/>
          </a:bodyPr>
          <a:lstStyle/>
          <a:p>
            <a:pPr>
              <a:lnSpc>
                <a:spcPct val="150000"/>
              </a:lnSpc>
            </a:pPr>
            <a:r>
              <a:rPr lang="en-US" sz="2800">
                <a:latin typeface="Calibri" panose="020F0502020204030204" pitchFamily="34" charset="0"/>
                <a:ea typeface="Calibri" panose="020F0502020204030204" pitchFamily="34" charset="0"/>
                <a:cs typeface="Calibri" panose="020F0502020204030204" pitchFamily="34" charset="0"/>
              </a:rPr>
              <a:t>Supervised Machine Learning</a:t>
            </a:r>
          </a:p>
          <a:p>
            <a:pPr marL="468747" indent="-468747">
              <a:lnSpc>
                <a:spcPct val="150000"/>
              </a:lnSpc>
              <a:buClr>
                <a:schemeClr val="bg2">
                  <a:lumMod val="25000"/>
                </a:schemeClr>
              </a:buClr>
              <a:buFont typeface="Calibri" panose="020F0502020204030204" pitchFamily="34" charset="0"/>
              <a:buChar char="•"/>
            </a:pPr>
            <a:r>
              <a:rPr lang="en-US" sz="2800">
                <a:latin typeface="Calibri" panose="020F0502020204030204" pitchFamily="34" charset="0"/>
                <a:ea typeface="Calibri" panose="020F0502020204030204" pitchFamily="34" charset="0"/>
                <a:cs typeface="Calibri" panose="020F0502020204030204" pitchFamily="34" charset="0"/>
              </a:rPr>
              <a:t>Target: log(climate finance per capita)</a:t>
            </a:r>
          </a:p>
          <a:p>
            <a:pPr marL="468747" indent="-468747">
              <a:lnSpc>
                <a:spcPct val="150000"/>
              </a:lnSpc>
              <a:buClr>
                <a:schemeClr val="accent2">
                  <a:lumMod val="75000"/>
                </a:schemeClr>
              </a:buClr>
              <a:buFont typeface="Calibri" panose="020F0502020204030204" pitchFamily="34" charset="0"/>
              <a:buChar char="•"/>
            </a:pPr>
            <a:r>
              <a:rPr lang="en-US" sz="2800">
                <a:latin typeface="Calibri" panose="020F0502020204030204" pitchFamily="34" charset="0"/>
                <a:ea typeface="Calibri" panose="020F0502020204030204" pitchFamily="34" charset="0"/>
                <a:cs typeface="Calibri" panose="020F0502020204030204" pitchFamily="34" charset="0"/>
              </a:rPr>
              <a:t>7 features: physical risk, population, CO</a:t>
            </a:r>
            <a:r>
              <a:rPr lang="en-US" sz="2800" baseline="-25000">
                <a:latin typeface="Calibri" panose="020F0502020204030204" pitchFamily="34" charset="0"/>
                <a:ea typeface="Calibri" panose="020F0502020204030204" pitchFamily="34" charset="0"/>
                <a:cs typeface="Calibri" panose="020F0502020204030204" pitchFamily="34" charset="0"/>
              </a:rPr>
              <a:t>2 </a:t>
            </a:r>
            <a:r>
              <a:rPr lang="en-US" sz="2800">
                <a:latin typeface="Calibri" panose="020F0502020204030204" pitchFamily="34" charset="0"/>
                <a:ea typeface="Calibri" panose="020F0502020204030204" pitchFamily="34" charset="0"/>
                <a:cs typeface="Calibri" panose="020F0502020204030204" pitchFamily="34" charset="0"/>
              </a:rPr>
              <a:t>, GDP_PC, damages_PC, Inflation(CPI), and institutional quality </a:t>
            </a:r>
          </a:p>
          <a:p>
            <a:pPr marL="468747" indent="-468747">
              <a:lnSpc>
                <a:spcPct val="150000"/>
              </a:lnSpc>
              <a:buClr>
                <a:schemeClr val="accent3">
                  <a:lumMod val="75000"/>
                </a:schemeClr>
              </a:buClr>
              <a:buFont typeface="Calibri" panose="020F0502020204030204" pitchFamily="34" charset="0"/>
              <a:buChar char="•"/>
            </a:pPr>
            <a:r>
              <a:rPr lang="en-US" sz="2800">
                <a:latin typeface="Calibri" panose="020F0502020204030204" pitchFamily="34" charset="0"/>
                <a:ea typeface="Calibri" panose="020F0502020204030204" pitchFamily="34" charset="0"/>
                <a:cs typeface="Calibri" panose="020F0502020204030204" pitchFamily="34" charset="0"/>
              </a:rPr>
              <a:t>Models: OLS • Random Forest • XGBoost</a:t>
            </a:r>
          </a:p>
          <a:p>
            <a:pPr marL="468747" indent="-468747">
              <a:lnSpc>
                <a:spcPct val="150000"/>
              </a:lnSpc>
              <a:buClr>
                <a:schemeClr val="accent5">
                  <a:lumMod val="75000"/>
                </a:schemeClr>
              </a:buClr>
              <a:buFont typeface="Calibri" panose="020F0502020204030204" pitchFamily="34" charset="0"/>
              <a:buChar char="•"/>
            </a:pPr>
            <a:r>
              <a:rPr lang="en-US" sz="2800">
                <a:latin typeface="Calibri" panose="020F0502020204030204" pitchFamily="34" charset="0"/>
                <a:ea typeface="Calibri" panose="020F0502020204030204" pitchFamily="34" charset="0"/>
                <a:cs typeface="Calibri" panose="020F0502020204030204" pitchFamily="34" charset="0"/>
              </a:rPr>
              <a:t>Evaluation: R</a:t>
            </a:r>
            <a:r>
              <a:rPr lang="en-US" sz="2800" baseline="30000">
                <a:latin typeface="Calibri" panose="020F0502020204030204" pitchFamily="34" charset="0"/>
                <a:ea typeface="Calibri" panose="020F0502020204030204" pitchFamily="34" charset="0"/>
                <a:cs typeface="Calibri" panose="020F0502020204030204" pitchFamily="34" charset="0"/>
              </a:rPr>
              <a:t>2 </a:t>
            </a:r>
            <a:r>
              <a:rPr lang="en-US" sz="2800">
                <a:latin typeface="Calibri" panose="020F0502020204030204" pitchFamily="34" charset="0"/>
                <a:ea typeface="Calibri" panose="020F0502020204030204" pitchFamily="34" charset="0"/>
                <a:cs typeface="Calibri" panose="020F0502020204030204" pitchFamily="34" charset="0"/>
              </a:rPr>
              <a:t> </a:t>
            </a:r>
          </a:p>
          <a:p>
            <a:pPr marL="468747" indent="-468747">
              <a:lnSpc>
                <a:spcPct val="150000"/>
              </a:lnSpc>
              <a:buClr>
                <a:schemeClr val="accent6">
                  <a:lumMod val="75000"/>
                </a:schemeClr>
              </a:buClr>
              <a:buFont typeface="Calibri" panose="020F0502020204030204" pitchFamily="34" charset="0"/>
              <a:buChar char="•"/>
            </a:pPr>
            <a:r>
              <a:rPr lang="en-US" sz="2800">
                <a:latin typeface="Calibri" panose="020F0502020204030204" pitchFamily="34" charset="0"/>
                <a:ea typeface="Calibri" panose="020F0502020204030204" pitchFamily="34" charset="0"/>
                <a:cs typeface="Calibri" panose="020F0502020204030204" pitchFamily="34" charset="0"/>
              </a:rPr>
              <a:t>Importance: Shap Explainer Waterfall plot </a:t>
            </a:r>
          </a:p>
        </p:txBody>
      </p:sp>
      <p:sp>
        <p:nvSpPr>
          <p:cNvPr id="10" name="TextBox 9">
            <a:extLst>
              <a:ext uri="{FF2B5EF4-FFF2-40B4-BE49-F238E27FC236}">
                <a16:creationId xmlns:a16="http://schemas.microsoft.com/office/drawing/2014/main" id="{FC162706-7678-B5CF-425F-331A115AE929}"/>
              </a:ext>
            </a:extLst>
          </p:cNvPr>
          <p:cNvSpPr txBox="1"/>
          <p:nvPr/>
        </p:nvSpPr>
        <p:spPr>
          <a:xfrm>
            <a:off x="0" y="10725079"/>
            <a:ext cx="43891517" cy="993773"/>
          </a:xfrm>
          <a:prstGeom prst="rect">
            <a:avLst/>
          </a:prstGeom>
          <a:solidFill>
            <a:schemeClr val="bg2">
              <a:lumMod val="75000"/>
            </a:schemeClr>
          </a:solidFill>
        </p:spPr>
        <p:txBody>
          <a:bodyPr rot="0" spcFirstLastPara="0" vertOverflow="overflow" horzOverflow="overflow" vert="horz" wrap="square" lIns="115481" tIns="57741" rIns="115481" bIns="57741" numCol="1" spcCol="0" rtlCol="0" fromWordArt="0" anchor="t" anchorCtr="0" forceAA="0" compatLnSpc="1">
            <a:prstTxWarp prst="textNoShape">
              <a:avLst/>
            </a:prstTxWarp>
            <a:spAutoFit/>
          </a:bodyPr>
          <a:lstStyle/>
          <a:p>
            <a:r>
              <a:rPr lang="en-US" sz="3200" b="1">
                <a:solidFill>
                  <a:schemeClr val="bg1"/>
                </a:solidFill>
                <a:latin typeface="Georgia" panose="02040502050405020303" pitchFamily="18" charset="0"/>
                <a:cs typeface="Helvetica" panose="020B0604020202020204" pitchFamily="34" charset="0"/>
              </a:rPr>
              <a:t>				</a:t>
            </a:r>
            <a:r>
              <a:rPr lang="en-US" sz="3200">
                <a:latin typeface="Georgia" panose="02040502050405020303" pitchFamily="18" charset="0"/>
                <a:cs typeface="Helvetica" panose="020B0604020202020204" pitchFamily="34" charset="0"/>
              </a:rPr>
              <a:t>Key finding: Machine Learning Shows Vulnerability and Risk Plays Limited Role in Finance Allocation</a:t>
            </a:r>
          </a:p>
          <a:p>
            <a:r>
              <a:rPr lang="en-US" sz="2500">
                <a:latin typeface="Georgia" panose="02040502050405020303" pitchFamily="18" charset="0"/>
                <a:ea typeface="Calibri" panose="020F0502020204030204" pitchFamily="34" charset="0"/>
                <a:cs typeface="Calibri" panose="020F0502020204030204" pitchFamily="34" charset="0"/>
              </a:rPr>
              <a:t>				XGBoost outperforms OLR and Random Forest; population, emissions profile, and income are key predictors • N = 117 country-year observations • 2000-2023 </a:t>
            </a:r>
          </a:p>
        </p:txBody>
      </p:sp>
      <p:sp>
        <p:nvSpPr>
          <p:cNvPr id="12" name="TextBox 11">
            <a:extLst>
              <a:ext uri="{FF2B5EF4-FFF2-40B4-BE49-F238E27FC236}">
                <a16:creationId xmlns:a16="http://schemas.microsoft.com/office/drawing/2014/main" id="{8EEFA3F8-15C8-7E38-EF94-77A0746CE8FF}"/>
              </a:ext>
            </a:extLst>
          </p:cNvPr>
          <p:cNvSpPr txBox="1"/>
          <p:nvPr/>
        </p:nvSpPr>
        <p:spPr>
          <a:xfrm>
            <a:off x="10463201" y="12629567"/>
            <a:ext cx="10998234" cy="7287266"/>
          </a:xfrm>
          <a:prstGeom prst="rect">
            <a:avLst/>
          </a:prstGeom>
          <a:solidFill>
            <a:schemeClr val="bg1">
              <a:lumMod val="95000"/>
            </a:schemeClr>
          </a:solidFill>
          <a:ln>
            <a:solidFill>
              <a:schemeClr val="tx1"/>
            </a:solidFill>
          </a:ln>
        </p:spPr>
        <p:txBody>
          <a:bodyPr rot="0" spcFirstLastPara="0" vertOverflow="overflow" horzOverflow="overflow" vert="horz" wrap="square" lIns="115481" tIns="57741" rIns="115481" bIns="57741" numCol="1" spcCol="0" rtlCol="0" fromWordArt="0" anchor="t" anchorCtr="0" forceAA="0" compatLnSpc="1">
            <a:prstTxWarp prst="textNoShape">
              <a:avLst/>
            </a:prstTxWarp>
            <a:spAutoFit/>
          </a:bodyPr>
          <a:lstStyle/>
          <a:p>
            <a:r>
              <a:rPr lang="en-US" sz="2800">
                <a:latin typeface="Calibri" panose="020F0502020204030204" pitchFamily="34" charset="0"/>
                <a:ea typeface="Calibri" panose="020F0502020204030204" pitchFamily="34" charset="0"/>
                <a:cs typeface="Calibri" panose="020F0502020204030204" pitchFamily="34" charset="0"/>
              </a:rPr>
              <a:t>				Highest risk concentrated in the global south</a:t>
            </a: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p:txBody>
      </p:sp>
      <p:grpSp>
        <p:nvGrpSpPr>
          <p:cNvPr id="26" name="Group 25">
            <a:extLst>
              <a:ext uri="{FF2B5EF4-FFF2-40B4-BE49-F238E27FC236}">
                <a16:creationId xmlns:a16="http://schemas.microsoft.com/office/drawing/2014/main" id="{46485781-2F8C-3F3B-3E3E-01E0B6CEF878}"/>
              </a:ext>
            </a:extLst>
          </p:cNvPr>
          <p:cNvGrpSpPr/>
          <p:nvPr/>
        </p:nvGrpSpPr>
        <p:grpSpPr>
          <a:xfrm>
            <a:off x="166552" y="4522449"/>
            <a:ext cx="9465231" cy="635961"/>
            <a:chOff x="0" y="0"/>
            <a:chExt cx="1392288" cy="294839"/>
          </a:xfrm>
          <a:solidFill>
            <a:schemeClr val="bg2">
              <a:lumMod val="50000"/>
            </a:schemeClr>
          </a:solidFill>
        </p:grpSpPr>
        <p:sp>
          <p:nvSpPr>
            <p:cNvPr id="27" name="Rectangle: Rounded Corners 26">
              <a:extLst>
                <a:ext uri="{FF2B5EF4-FFF2-40B4-BE49-F238E27FC236}">
                  <a16:creationId xmlns:a16="http://schemas.microsoft.com/office/drawing/2014/main" id="{E5CA93B5-BA54-324A-9E13-AD1F1713330C}"/>
                </a:ext>
              </a:extLst>
            </p:cNvPr>
            <p:cNvSpPr/>
            <p:nvPr/>
          </p:nvSpPr>
          <p:spPr>
            <a:xfrm>
              <a:off x="0" y="0"/>
              <a:ext cx="1392288" cy="294839"/>
            </a:xfrm>
            <a:prstGeom prst="roundRect">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sz="3079">
                <a:solidFill>
                  <a:schemeClr val="bg2">
                    <a:lumMod val="25000"/>
                  </a:schemeClr>
                </a:solidFill>
              </a:endParaRPr>
            </a:p>
          </p:txBody>
        </p:sp>
        <p:sp>
          <p:nvSpPr>
            <p:cNvPr id="28" name="Rectangle: Rounded Corners 4">
              <a:extLst>
                <a:ext uri="{FF2B5EF4-FFF2-40B4-BE49-F238E27FC236}">
                  <a16:creationId xmlns:a16="http://schemas.microsoft.com/office/drawing/2014/main" id="{DDB1380D-7255-0AD5-E21F-C59938E5E583}"/>
                </a:ext>
              </a:extLst>
            </p:cNvPr>
            <p:cNvSpPr txBox="1"/>
            <p:nvPr/>
          </p:nvSpPr>
          <p:spPr>
            <a:xfrm>
              <a:off x="14393" y="14393"/>
              <a:ext cx="1363502" cy="266053"/>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0" vert="horz" wrap="square" lIns="57741" tIns="57741" rIns="57741" bIns="57741" numCol="1" spcCol="1270" anchor="ctr" anchorCtr="0">
              <a:noAutofit/>
            </a:bodyPr>
            <a:lstStyle/>
            <a:p>
              <a:pPr defTabSz="673691">
                <a:lnSpc>
                  <a:spcPct val="90000"/>
                </a:lnSpc>
                <a:spcBef>
                  <a:spcPct val="0"/>
                </a:spcBef>
                <a:spcAft>
                  <a:spcPct val="35000"/>
                </a:spcAft>
              </a:pPr>
              <a:r>
                <a:rPr lang="en-GB" sz="3200" b="1">
                  <a:solidFill>
                    <a:schemeClr val="bg1"/>
                  </a:solidFill>
                  <a:latin typeface="Georgia" panose="02040502050405020303" pitchFamily="18" charset="0"/>
                  <a:cs typeface="Helvetica" panose="020B0604020202020204" pitchFamily="34" charset="0"/>
                </a:rPr>
                <a:t>01 - Introduction</a:t>
              </a:r>
            </a:p>
          </p:txBody>
        </p:sp>
      </p:grpSp>
      <p:grpSp>
        <p:nvGrpSpPr>
          <p:cNvPr id="32" name="Group 31">
            <a:extLst>
              <a:ext uri="{FF2B5EF4-FFF2-40B4-BE49-F238E27FC236}">
                <a16:creationId xmlns:a16="http://schemas.microsoft.com/office/drawing/2014/main" id="{C7864C3B-C50D-F7D0-6BE9-1219BCD5CDF5}"/>
              </a:ext>
            </a:extLst>
          </p:cNvPr>
          <p:cNvGrpSpPr/>
          <p:nvPr/>
        </p:nvGrpSpPr>
        <p:grpSpPr>
          <a:xfrm>
            <a:off x="20807631" y="4548276"/>
            <a:ext cx="10947641" cy="636733"/>
            <a:chOff x="0" y="0"/>
            <a:chExt cx="1392288" cy="294839"/>
          </a:xfrm>
          <a:solidFill>
            <a:schemeClr val="bg2">
              <a:lumMod val="50000"/>
            </a:schemeClr>
          </a:solidFill>
        </p:grpSpPr>
        <p:sp>
          <p:nvSpPr>
            <p:cNvPr id="33" name="Rectangle: Rounded Corners 32">
              <a:extLst>
                <a:ext uri="{FF2B5EF4-FFF2-40B4-BE49-F238E27FC236}">
                  <a16:creationId xmlns:a16="http://schemas.microsoft.com/office/drawing/2014/main" id="{39FA08F1-D72F-69B5-0020-9E0939608829}"/>
                </a:ext>
              </a:extLst>
            </p:cNvPr>
            <p:cNvSpPr/>
            <p:nvPr/>
          </p:nvSpPr>
          <p:spPr>
            <a:xfrm>
              <a:off x="0" y="0"/>
              <a:ext cx="1392288" cy="294839"/>
            </a:xfrm>
            <a:prstGeom prst="roundRect">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sz="3079">
                <a:solidFill>
                  <a:schemeClr val="tx1"/>
                </a:solidFill>
              </a:endParaRPr>
            </a:p>
          </p:txBody>
        </p:sp>
        <p:sp>
          <p:nvSpPr>
            <p:cNvPr id="34" name="Rectangle: Rounded Corners 4">
              <a:extLst>
                <a:ext uri="{FF2B5EF4-FFF2-40B4-BE49-F238E27FC236}">
                  <a16:creationId xmlns:a16="http://schemas.microsoft.com/office/drawing/2014/main" id="{FA99EBB1-B009-32CF-4640-23D5FBA7107D}"/>
                </a:ext>
              </a:extLst>
            </p:cNvPr>
            <p:cNvSpPr txBox="1"/>
            <p:nvPr/>
          </p:nvSpPr>
          <p:spPr>
            <a:xfrm>
              <a:off x="14393" y="14393"/>
              <a:ext cx="1363502" cy="266053"/>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0" vert="horz" wrap="square" lIns="57741" tIns="57741" rIns="57741" bIns="57741" numCol="1" spcCol="1270" anchor="ctr" anchorCtr="0">
              <a:noAutofit/>
            </a:bodyPr>
            <a:lstStyle/>
            <a:p>
              <a:pPr defTabSz="673691">
                <a:lnSpc>
                  <a:spcPct val="90000"/>
                </a:lnSpc>
                <a:spcBef>
                  <a:spcPct val="0"/>
                </a:spcBef>
                <a:spcAft>
                  <a:spcPct val="35000"/>
                </a:spcAft>
              </a:pPr>
              <a:r>
                <a:rPr lang="en-GB" sz="3200" b="1">
                  <a:solidFill>
                    <a:schemeClr val="bg1"/>
                  </a:solidFill>
                  <a:latin typeface="Georgia" panose="02040502050405020303" pitchFamily="18" charset="0"/>
                  <a:ea typeface="Calibri" panose="020F0502020204030204" pitchFamily="34" charset="0"/>
                  <a:cs typeface="Calibri" panose="020F0502020204030204" pitchFamily="34" charset="0"/>
                </a:rPr>
                <a:t>03 – Data sources</a:t>
              </a:r>
            </a:p>
          </p:txBody>
        </p:sp>
      </p:grpSp>
      <p:grpSp>
        <p:nvGrpSpPr>
          <p:cNvPr id="35" name="Group 34">
            <a:extLst>
              <a:ext uri="{FF2B5EF4-FFF2-40B4-BE49-F238E27FC236}">
                <a16:creationId xmlns:a16="http://schemas.microsoft.com/office/drawing/2014/main" id="{FD4CBBA0-F4F4-9768-A658-634769387ADB}"/>
              </a:ext>
            </a:extLst>
          </p:cNvPr>
          <p:cNvGrpSpPr/>
          <p:nvPr/>
        </p:nvGrpSpPr>
        <p:grpSpPr>
          <a:xfrm>
            <a:off x="32726261" y="4579359"/>
            <a:ext cx="10675437" cy="605671"/>
            <a:chOff x="0" y="0"/>
            <a:chExt cx="1392288" cy="294839"/>
          </a:xfrm>
          <a:solidFill>
            <a:schemeClr val="tx1">
              <a:lumMod val="50000"/>
              <a:lumOff val="50000"/>
            </a:schemeClr>
          </a:solidFill>
        </p:grpSpPr>
        <p:sp>
          <p:nvSpPr>
            <p:cNvPr id="36" name="Rectangle: Rounded Corners 35">
              <a:extLst>
                <a:ext uri="{FF2B5EF4-FFF2-40B4-BE49-F238E27FC236}">
                  <a16:creationId xmlns:a16="http://schemas.microsoft.com/office/drawing/2014/main" id="{1D5802D4-F6F7-BF7C-8903-0E2DA5CA14F6}"/>
                </a:ext>
              </a:extLst>
            </p:cNvPr>
            <p:cNvSpPr/>
            <p:nvPr/>
          </p:nvSpPr>
          <p:spPr>
            <a:xfrm>
              <a:off x="0" y="0"/>
              <a:ext cx="1392288" cy="294839"/>
            </a:xfrm>
            <a:prstGeom prst="roundRect">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sz="3079">
                <a:latin typeface="Helvetica" panose="020B0604020202020204" pitchFamily="34" charset="0"/>
                <a:cs typeface="Helvetica" panose="020B0604020202020204" pitchFamily="34" charset="0"/>
              </a:endParaRPr>
            </a:p>
          </p:txBody>
        </p:sp>
        <p:sp>
          <p:nvSpPr>
            <p:cNvPr id="37" name="Rectangle: Rounded Corners 4">
              <a:extLst>
                <a:ext uri="{FF2B5EF4-FFF2-40B4-BE49-F238E27FC236}">
                  <a16:creationId xmlns:a16="http://schemas.microsoft.com/office/drawing/2014/main" id="{4504680F-F8BB-F34D-2236-1BD7BC53A068}"/>
                </a:ext>
              </a:extLst>
            </p:cNvPr>
            <p:cNvSpPr txBox="1"/>
            <p:nvPr/>
          </p:nvSpPr>
          <p:spPr>
            <a:xfrm>
              <a:off x="14393" y="14393"/>
              <a:ext cx="1363502" cy="266053"/>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0" vert="horz" wrap="square" lIns="57741" tIns="57741" rIns="57741" bIns="57741" numCol="1" spcCol="1270" anchor="ctr" anchorCtr="0">
              <a:noAutofit/>
            </a:bodyPr>
            <a:lstStyle/>
            <a:p>
              <a:pPr defTabSz="673691">
                <a:lnSpc>
                  <a:spcPct val="90000"/>
                </a:lnSpc>
                <a:spcBef>
                  <a:spcPct val="0"/>
                </a:spcBef>
                <a:spcAft>
                  <a:spcPct val="35000"/>
                </a:spcAft>
              </a:pPr>
              <a:r>
                <a:rPr lang="en-GB" sz="3200" b="1">
                  <a:solidFill>
                    <a:schemeClr val="bg1"/>
                  </a:solidFill>
                  <a:latin typeface="Georgia" panose="02040502050405020303" pitchFamily="18" charset="0"/>
                  <a:ea typeface="Calibri" panose="020F0502020204030204" pitchFamily="34" charset="0"/>
                  <a:cs typeface="Calibri" panose="020F0502020204030204" pitchFamily="34" charset="0"/>
                </a:rPr>
                <a:t>04 - Methodology</a:t>
              </a:r>
            </a:p>
          </p:txBody>
        </p:sp>
      </p:grpSp>
      <p:grpSp>
        <p:nvGrpSpPr>
          <p:cNvPr id="38" name="Group 37">
            <a:extLst>
              <a:ext uri="{FF2B5EF4-FFF2-40B4-BE49-F238E27FC236}">
                <a16:creationId xmlns:a16="http://schemas.microsoft.com/office/drawing/2014/main" id="{AD86DEE3-F565-236A-C7DA-7136B6AA7D77}"/>
              </a:ext>
            </a:extLst>
          </p:cNvPr>
          <p:cNvGrpSpPr/>
          <p:nvPr/>
        </p:nvGrpSpPr>
        <p:grpSpPr>
          <a:xfrm>
            <a:off x="10463202" y="11991789"/>
            <a:ext cx="11026994" cy="670510"/>
            <a:chOff x="0" y="0"/>
            <a:chExt cx="1406681" cy="294839"/>
          </a:xfrm>
          <a:solidFill>
            <a:schemeClr val="accent2">
              <a:lumMod val="20000"/>
              <a:lumOff val="80000"/>
            </a:schemeClr>
          </a:solidFill>
        </p:grpSpPr>
        <p:sp>
          <p:nvSpPr>
            <p:cNvPr id="39" name="Rectangle: Rounded Corners 38">
              <a:extLst>
                <a:ext uri="{FF2B5EF4-FFF2-40B4-BE49-F238E27FC236}">
                  <a16:creationId xmlns:a16="http://schemas.microsoft.com/office/drawing/2014/main" id="{2CE6F001-BF88-8AF3-4C71-2FC4DC988F6E}"/>
                </a:ext>
              </a:extLst>
            </p:cNvPr>
            <p:cNvSpPr/>
            <p:nvPr/>
          </p:nvSpPr>
          <p:spPr>
            <a:xfrm>
              <a:off x="0" y="0"/>
              <a:ext cx="1406681" cy="294839"/>
            </a:xfrm>
            <a:prstGeom prst="roundRect">
              <a:avLst/>
            </a:prstGeom>
            <a:solidFill>
              <a:schemeClr val="bg2">
                <a:lumMod val="5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sz="3079"/>
            </a:p>
          </p:txBody>
        </p:sp>
        <p:sp>
          <p:nvSpPr>
            <p:cNvPr id="40" name="Rectangle: Rounded Corners 4">
              <a:extLst>
                <a:ext uri="{FF2B5EF4-FFF2-40B4-BE49-F238E27FC236}">
                  <a16:creationId xmlns:a16="http://schemas.microsoft.com/office/drawing/2014/main" id="{EB869AE3-DB8A-1F4C-0819-4D2500B5690E}"/>
                </a:ext>
              </a:extLst>
            </p:cNvPr>
            <p:cNvSpPr txBox="1"/>
            <p:nvPr/>
          </p:nvSpPr>
          <p:spPr>
            <a:xfrm>
              <a:off x="14393" y="14393"/>
              <a:ext cx="1392288" cy="266053"/>
            </a:xfrm>
            <a:prstGeom prst="rect">
              <a:avLst/>
            </a:prstGeom>
            <a:solidFill>
              <a:schemeClr val="bg2">
                <a:lumMod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7741" tIns="57741" rIns="57741" bIns="57741" numCol="1" spcCol="1270" anchor="ctr" anchorCtr="0">
              <a:noAutofit/>
            </a:bodyPr>
            <a:lstStyle/>
            <a:p>
              <a:pPr defTabSz="673691">
                <a:lnSpc>
                  <a:spcPct val="90000"/>
                </a:lnSpc>
                <a:spcBef>
                  <a:spcPct val="0"/>
                </a:spcBef>
                <a:spcAft>
                  <a:spcPct val="35000"/>
                </a:spcAft>
              </a:pPr>
              <a:r>
                <a:rPr lang="en-GB" sz="3000" b="1">
                  <a:solidFill>
                    <a:schemeClr val="bg1"/>
                  </a:solidFill>
                  <a:latin typeface="Georgia" panose="02040502050405020303" pitchFamily="18" charset="0"/>
                  <a:cs typeface="Helvetica" panose="020B0604020202020204" pitchFamily="34" charset="0"/>
                </a:rPr>
                <a:t>06 – Where the risk is</a:t>
              </a:r>
            </a:p>
          </p:txBody>
        </p:sp>
      </p:grpSp>
      <p:sp>
        <p:nvSpPr>
          <p:cNvPr id="71" name="Rectangle 70">
            <a:extLst>
              <a:ext uri="{FF2B5EF4-FFF2-40B4-BE49-F238E27FC236}">
                <a16:creationId xmlns:a16="http://schemas.microsoft.com/office/drawing/2014/main" id="{DDD1903F-A59E-364C-42FD-ABD8ACEA4095}"/>
              </a:ext>
              <a:ext uri="{C183D7F6-B498-43B3-948B-1728B52AA6E4}">
                <adec:decorative xmlns:adec="http://schemas.microsoft.com/office/drawing/2017/decorative" val="1"/>
              </a:ext>
            </a:extLst>
          </p:cNvPr>
          <p:cNvSpPr/>
          <p:nvPr/>
        </p:nvSpPr>
        <p:spPr>
          <a:xfrm>
            <a:off x="0" y="1887"/>
            <a:ext cx="43891517" cy="2912452"/>
          </a:xfrm>
          <a:prstGeom prst="rect">
            <a:avLst/>
          </a:prstGeom>
          <a:solidFill>
            <a:schemeClr val="tx1">
              <a:lumMod val="85000"/>
              <a:lumOff val="1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sz="3079"/>
          </a:p>
        </p:txBody>
      </p:sp>
      <p:sp>
        <p:nvSpPr>
          <p:cNvPr id="5" name="TextBox 4">
            <a:extLst>
              <a:ext uri="{FF2B5EF4-FFF2-40B4-BE49-F238E27FC236}">
                <a16:creationId xmlns:a16="http://schemas.microsoft.com/office/drawing/2014/main" id="{8D8881F2-9233-4A18-7D8D-BE7701687E72}"/>
              </a:ext>
            </a:extLst>
          </p:cNvPr>
          <p:cNvSpPr txBox="1"/>
          <p:nvPr/>
        </p:nvSpPr>
        <p:spPr>
          <a:xfrm>
            <a:off x="284888" y="237507"/>
            <a:ext cx="32920945" cy="2895914"/>
          </a:xfrm>
          <a:prstGeom prst="rect">
            <a:avLst/>
          </a:prstGeom>
          <a:noFill/>
        </p:spPr>
        <p:txBody>
          <a:bodyPr rot="0" spcFirstLastPara="0" vertOverflow="overflow" horzOverflow="overflow" vert="horz" wrap="square" lIns="115481" tIns="57741" rIns="115481" bIns="57741" numCol="1" spcCol="0" rtlCol="0" fromWordArt="0" anchor="t" anchorCtr="0" forceAA="0" compatLnSpc="1">
            <a:prstTxWarp prst="textNoShape">
              <a:avLst/>
            </a:prstTxWarp>
            <a:spAutoFit/>
          </a:bodyPr>
          <a:lstStyle/>
          <a:p>
            <a:r>
              <a:rPr lang="en-US" sz="3032">
                <a:solidFill>
                  <a:schemeClr val="bg1"/>
                </a:solidFill>
                <a:latin typeface="Georgia" panose="02040502050405020303" pitchFamily="18" charset="0"/>
                <a:ea typeface="Sans Serif Collection" panose="020B0502040504020204" pitchFamily="34" charset="0"/>
                <a:cs typeface="Helvetica" panose="020B0604020202020204" pitchFamily="34" charset="0"/>
              </a:rPr>
              <a:t>MSC DATA SCIENCE • YORK ST JOHN UNIVERSITY • 2026</a:t>
            </a:r>
            <a:endParaRPr lang="en-US" sz="3079">
              <a:solidFill>
                <a:schemeClr val="bg1"/>
              </a:solidFill>
              <a:latin typeface="Georgia" panose="02040502050405020303" pitchFamily="18" charset="0"/>
              <a:ea typeface="Sans Serif Collection" panose="020B0502040504020204" pitchFamily="34" charset="0"/>
              <a:cs typeface="Helvetica" panose="020B0604020202020204" pitchFamily="34" charset="0"/>
            </a:endParaRPr>
          </a:p>
          <a:p>
            <a:r>
              <a:rPr lang="en-US" sz="6063" b="1">
                <a:solidFill>
                  <a:schemeClr val="bg1"/>
                </a:solidFill>
                <a:latin typeface="Georgia" panose="02040502050405020303" pitchFamily="18" charset="0"/>
                <a:ea typeface="Sans Serif Collection" panose="020B0502040504020204" pitchFamily="34" charset="0"/>
                <a:cs typeface="Helvetica" panose="020B0604020202020204" pitchFamily="34" charset="0"/>
              </a:rPr>
              <a:t>Decoding Capital Flow in Climate Finance: </a:t>
            </a:r>
          </a:p>
          <a:p>
            <a:r>
              <a:rPr lang="en-US" sz="6063" b="1">
                <a:solidFill>
                  <a:schemeClr val="bg1"/>
                </a:solidFill>
                <a:latin typeface="Georgia" panose="02040502050405020303" pitchFamily="18" charset="0"/>
                <a:ea typeface="Sans Serif Collection" panose="020B0502040504020204" pitchFamily="34" charset="0"/>
                <a:cs typeface="Helvetica" panose="020B0604020202020204" pitchFamily="34" charset="0"/>
              </a:rPr>
              <a:t>A Machine Learning Analysis of Global Climate Finance Per Capita</a:t>
            </a:r>
          </a:p>
          <a:p>
            <a:pPr>
              <a:lnSpc>
                <a:spcPct val="150000"/>
              </a:lnSpc>
            </a:pPr>
            <a:endParaRPr lang="en-US" sz="2021" b="1">
              <a:solidFill>
                <a:schemeClr val="bg1"/>
              </a:solidFill>
              <a:highlight>
                <a:srgbClr val="FFFFFF"/>
              </a:highlight>
              <a:latin typeface="Georgia" panose="02040502050405020303" pitchFamily="18" charset="0"/>
              <a:ea typeface="Sans Serif Collection" panose="020B0502040504020204" pitchFamily="34" charset="0"/>
              <a:cs typeface="Helvetica" panose="020B0604020202020204" pitchFamily="34" charset="0"/>
            </a:endParaRPr>
          </a:p>
        </p:txBody>
      </p:sp>
      <p:pic>
        <p:nvPicPr>
          <p:cNvPr id="73" name="Picture 72">
            <a:extLst>
              <a:ext uri="{FF2B5EF4-FFF2-40B4-BE49-F238E27FC236}">
                <a16:creationId xmlns:a16="http://schemas.microsoft.com/office/drawing/2014/main" id="{551400F1-6384-A8EB-3119-C30C43F361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38614" y="156826"/>
            <a:ext cx="5744277" cy="2524772"/>
          </a:xfrm>
          <a:prstGeom prst="rect">
            <a:avLst/>
          </a:prstGeom>
        </p:spPr>
      </p:pic>
      <p:sp>
        <p:nvSpPr>
          <p:cNvPr id="59" name="TextBox 58">
            <a:extLst>
              <a:ext uri="{FF2B5EF4-FFF2-40B4-BE49-F238E27FC236}">
                <a16:creationId xmlns:a16="http://schemas.microsoft.com/office/drawing/2014/main" id="{408EC63D-0E19-3C3C-C322-E40BB0A54161}"/>
              </a:ext>
            </a:extLst>
          </p:cNvPr>
          <p:cNvSpPr txBox="1"/>
          <p:nvPr/>
        </p:nvSpPr>
        <p:spPr>
          <a:xfrm>
            <a:off x="6328747" y="8649879"/>
            <a:ext cx="3593731" cy="1470827"/>
          </a:xfrm>
          <a:prstGeom prst="rect">
            <a:avLst/>
          </a:prstGeom>
          <a:noFill/>
        </p:spPr>
        <p:txBody>
          <a:bodyPr rot="0" spcFirstLastPara="0" vertOverflow="overflow" horzOverflow="overflow" vert="horz" wrap="square" lIns="115481" tIns="57741" rIns="115481" bIns="57741" numCol="1" spcCol="0" rtlCol="0" fromWordArt="0" anchor="t" anchorCtr="0" forceAA="0" compatLnSpc="1">
            <a:prstTxWarp prst="textNoShape">
              <a:avLst/>
            </a:prstTxWarp>
            <a:spAutoFit/>
          </a:bodyPr>
          <a:lstStyle/>
          <a:p>
            <a:r>
              <a:rPr lang="en-US" sz="2800">
                <a:latin typeface="Calibri" panose="020F0502020204030204" pitchFamily="34" charset="0"/>
                <a:ea typeface="Calibri" panose="020F0502020204030204" pitchFamily="34" charset="0"/>
                <a:cs typeface="Calibri" panose="020F0502020204030204" pitchFamily="34" charset="0"/>
              </a:rPr>
              <a:t>Global Exposure</a:t>
            </a:r>
          </a:p>
          <a:p>
            <a:r>
              <a:rPr lang="en-US" sz="3200" b="1">
                <a:solidFill>
                  <a:srgbClr val="FF0000"/>
                </a:solidFill>
                <a:latin typeface="Calibri" panose="020F0502020204030204" pitchFamily="34" charset="0"/>
                <a:ea typeface="Calibri" panose="020F0502020204030204" pitchFamily="34" charset="0"/>
                <a:cs typeface="Calibri" panose="020F0502020204030204" pitchFamily="34" charset="0"/>
              </a:rPr>
              <a:t>80%</a:t>
            </a:r>
          </a:p>
          <a:p>
            <a:r>
              <a:rPr lang="en-US" sz="2800">
                <a:latin typeface="Calibri" panose="020F0502020204030204" pitchFamily="34" charset="0"/>
                <a:ea typeface="Calibri" panose="020F0502020204030204" pitchFamily="34" charset="0"/>
                <a:cs typeface="Calibri" panose="020F0502020204030204" pitchFamily="34" charset="0"/>
              </a:rPr>
              <a:t>High &amp; medium risk</a:t>
            </a:r>
          </a:p>
        </p:txBody>
      </p:sp>
      <p:sp>
        <p:nvSpPr>
          <p:cNvPr id="62" name="TextBox 61">
            <a:extLst>
              <a:ext uri="{FF2B5EF4-FFF2-40B4-BE49-F238E27FC236}">
                <a16:creationId xmlns:a16="http://schemas.microsoft.com/office/drawing/2014/main" id="{FD057A25-80F2-3361-1FF6-27D2DF932455}"/>
              </a:ext>
            </a:extLst>
          </p:cNvPr>
          <p:cNvSpPr txBox="1"/>
          <p:nvPr/>
        </p:nvSpPr>
        <p:spPr>
          <a:xfrm>
            <a:off x="201373" y="8567999"/>
            <a:ext cx="3187995" cy="1963269"/>
          </a:xfrm>
          <a:prstGeom prst="rect">
            <a:avLst/>
          </a:prstGeom>
          <a:noFill/>
        </p:spPr>
        <p:txBody>
          <a:bodyPr rot="0" spcFirstLastPara="0" vertOverflow="overflow" horzOverflow="overflow" vert="horz" wrap="square" lIns="115481" tIns="57741" rIns="115481" bIns="57741" numCol="1" spcCol="0" rtlCol="0" fromWordArt="0" anchor="t" anchorCtr="0" forceAA="0" compatLnSpc="1">
            <a:prstTxWarp prst="textNoShape">
              <a:avLst/>
            </a:prstTxWarp>
            <a:spAutoFit/>
          </a:bodyPr>
          <a:lstStyle/>
          <a:p>
            <a:r>
              <a:rPr lang="en-US" sz="2800">
                <a:latin typeface="Calibri" panose="020F0502020204030204" pitchFamily="34" charset="0"/>
                <a:ea typeface="Calibri" panose="020F0502020204030204" pitchFamily="34" charset="0"/>
                <a:cs typeface="Calibri" panose="020F0502020204030204" pitchFamily="34" charset="0"/>
              </a:rPr>
              <a:t>Global climate </a:t>
            </a:r>
          </a:p>
          <a:p>
            <a:r>
              <a:rPr lang="en-US" sz="2800">
                <a:latin typeface="Calibri" panose="020F0502020204030204" pitchFamily="34" charset="0"/>
                <a:ea typeface="Calibri" panose="020F0502020204030204" pitchFamily="34" charset="0"/>
                <a:cs typeface="Calibri" panose="020F0502020204030204" pitchFamily="34" charset="0"/>
              </a:rPr>
              <a:t>finance</a:t>
            </a:r>
          </a:p>
          <a:p>
            <a:r>
              <a:rPr lang="en-US" sz="3200" b="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$1.2T</a:t>
            </a:r>
          </a:p>
          <a:p>
            <a:r>
              <a:rPr lang="en-US" sz="2800">
                <a:latin typeface="Calibri" panose="020F0502020204030204" pitchFamily="34" charset="0"/>
                <a:ea typeface="Calibri" panose="020F0502020204030204" pitchFamily="34" charset="0"/>
                <a:cs typeface="Calibri" panose="020F0502020204030204" pitchFamily="34" charset="0"/>
              </a:rPr>
              <a:t>2023 total</a:t>
            </a:r>
          </a:p>
        </p:txBody>
      </p:sp>
      <p:sp>
        <p:nvSpPr>
          <p:cNvPr id="74" name="TextBox 73">
            <a:extLst>
              <a:ext uri="{FF2B5EF4-FFF2-40B4-BE49-F238E27FC236}">
                <a16:creationId xmlns:a16="http://schemas.microsoft.com/office/drawing/2014/main" id="{DB7D4524-065D-6430-9722-5D226871BD27}"/>
              </a:ext>
            </a:extLst>
          </p:cNvPr>
          <p:cNvSpPr txBox="1"/>
          <p:nvPr/>
        </p:nvSpPr>
        <p:spPr>
          <a:xfrm>
            <a:off x="3262149" y="8609416"/>
            <a:ext cx="2947797" cy="1470827"/>
          </a:xfrm>
          <a:prstGeom prst="rect">
            <a:avLst/>
          </a:prstGeom>
          <a:noFill/>
        </p:spPr>
        <p:txBody>
          <a:bodyPr rot="0" spcFirstLastPara="0" vertOverflow="overflow" horzOverflow="overflow" vert="horz" wrap="square" lIns="115481" tIns="57741" rIns="115481" bIns="57741" numCol="1" spcCol="0" rtlCol="0" fromWordArt="0" anchor="t" anchorCtr="0" forceAA="0" compatLnSpc="1">
            <a:prstTxWarp prst="textNoShape">
              <a:avLst/>
            </a:prstTxWarp>
            <a:spAutoFit/>
          </a:bodyPr>
          <a:lstStyle/>
          <a:p>
            <a:r>
              <a:rPr lang="en-US" sz="2800">
                <a:latin typeface="Calibri" panose="020F0502020204030204" pitchFamily="34" charset="0"/>
                <a:ea typeface="Calibri" panose="020F0502020204030204" pitchFamily="34" charset="0"/>
                <a:cs typeface="Calibri" panose="020F0502020204030204" pitchFamily="34" charset="0"/>
              </a:rPr>
              <a:t>Annual Losses</a:t>
            </a:r>
          </a:p>
          <a:p>
            <a:r>
              <a:rPr lang="en-US" sz="3200" b="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$2.4B</a:t>
            </a:r>
          </a:p>
          <a:p>
            <a:r>
              <a:rPr lang="en-US" sz="2800">
                <a:latin typeface="Calibri" panose="020F0502020204030204" pitchFamily="34" charset="0"/>
                <a:ea typeface="Calibri" panose="020F0502020204030204" pitchFamily="34" charset="0"/>
                <a:cs typeface="Calibri" panose="020F0502020204030204" pitchFamily="34" charset="0"/>
              </a:rPr>
              <a:t>EM-DAT 2026</a:t>
            </a:r>
          </a:p>
        </p:txBody>
      </p:sp>
      <p:pic>
        <p:nvPicPr>
          <p:cNvPr id="76" name="Graphic 75" descr="Badge New outline">
            <a:extLst>
              <a:ext uri="{FF2B5EF4-FFF2-40B4-BE49-F238E27FC236}">
                <a16:creationId xmlns:a16="http://schemas.microsoft.com/office/drawing/2014/main" id="{D4BDB77A-5C08-BCC1-025A-47754DB5CF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102" y="10767870"/>
            <a:ext cx="894485" cy="894485"/>
          </a:xfrm>
          <a:prstGeom prst="rect">
            <a:avLst/>
          </a:prstGeom>
        </p:spPr>
      </p:pic>
      <p:sp>
        <p:nvSpPr>
          <p:cNvPr id="78" name="TextBox 77">
            <a:extLst>
              <a:ext uri="{FF2B5EF4-FFF2-40B4-BE49-F238E27FC236}">
                <a16:creationId xmlns:a16="http://schemas.microsoft.com/office/drawing/2014/main" id="{C1789577-E601-35E5-C7EF-89DBCCE858CA}"/>
              </a:ext>
            </a:extLst>
          </p:cNvPr>
          <p:cNvSpPr txBox="1"/>
          <p:nvPr/>
        </p:nvSpPr>
        <p:spPr>
          <a:xfrm>
            <a:off x="10732403" y="8138261"/>
            <a:ext cx="9148895" cy="1318181"/>
          </a:xfrm>
          <a:prstGeom prst="rect">
            <a:avLst/>
          </a:prstGeom>
          <a:solidFill>
            <a:srgbClr val="FFEFBD"/>
          </a:solidFill>
        </p:spPr>
        <p:txBody>
          <a:bodyPr wrap="square" rtlCol="0">
            <a:spAutoFit/>
          </a:bodyPr>
          <a:lstStyle/>
          <a:p>
            <a:pPr>
              <a:lnSpc>
                <a:spcPct val="150000"/>
              </a:lnSpc>
            </a:pPr>
            <a:r>
              <a:rPr lang="en-GB" sz="2800">
                <a:latin typeface="Calibri" panose="020F0502020204030204" pitchFamily="34" charset="0"/>
                <a:ea typeface="Calibri" panose="020F0502020204030204" pitchFamily="34" charset="0"/>
                <a:cs typeface="Calibri" panose="020F0502020204030204" pitchFamily="34" charset="0"/>
              </a:rPr>
              <a:t>Climate vulnerability shows a weak relationship with finance        allocation, indicating a misalignment in global climate finance.</a:t>
            </a:r>
          </a:p>
        </p:txBody>
      </p:sp>
      <p:cxnSp>
        <p:nvCxnSpPr>
          <p:cNvPr id="80" name="Straight Connector 79">
            <a:extLst>
              <a:ext uri="{FF2B5EF4-FFF2-40B4-BE49-F238E27FC236}">
                <a16:creationId xmlns:a16="http://schemas.microsoft.com/office/drawing/2014/main" id="{703E0F39-5556-07DF-C94A-1BB19260A3B0}"/>
              </a:ext>
              <a:ext uri="{C183D7F6-B498-43B3-948B-1728B52AA6E4}">
                <adec:decorative xmlns:adec="http://schemas.microsoft.com/office/drawing/2017/decorative" val="1"/>
              </a:ext>
            </a:extLst>
          </p:cNvPr>
          <p:cNvCxnSpPr/>
          <p:nvPr/>
        </p:nvCxnSpPr>
        <p:spPr>
          <a:xfrm>
            <a:off x="-3691252" y="7768336"/>
            <a:ext cx="0" cy="0"/>
          </a:xfrm>
          <a:prstGeom prst="line">
            <a:avLst/>
          </a:prstGeom>
        </p:spPr>
        <p:style>
          <a:lnRef idx="2">
            <a:schemeClr val="accent3"/>
          </a:lnRef>
          <a:fillRef idx="0">
            <a:schemeClr val="accent3"/>
          </a:fillRef>
          <a:effectRef idx="1">
            <a:schemeClr val="accent3"/>
          </a:effectRef>
          <a:fontRef idx="minor">
            <a:schemeClr val="tx1"/>
          </a:fontRef>
        </p:style>
      </p:cxnSp>
      <p:cxnSp>
        <p:nvCxnSpPr>
          <p:cNvPr id="82" name="Straight Connector 81">
            <a:extLst>
              <a:ext uri="{FF2B5EF4-FFF2-40B4-BE49-F238E27FC236}">
                <a16:creationId xmlns:a16="http://schemas.microsoft.com/office/drawing/2014/main" id="{F1B09B7D-4D84-75B5-0BD8-1E9600DA2ACC}"/>
              </a:ext>
              <a:ext uri="{C183D7F6-B498-43B3-948B-1728B52AA6E4}">
                <adec:decorative xmlns:adec="http://schemas.microsoft.com/office/drawing/2017/decorative" val="1"/>
              </a:ext>
            </a:extLst>
          </p:cNvPr>
          <p:cNvCxnSpPr>
            <a:cxnSpLocks/>
          </p:cNvCxnSpPr>
          <p:nvPr/>
        </p:nvCxnSpPr>
        <p:spPr>
          <a:xfrm>
            <a:off x="10732403" y="8138261"/>
            <a:ext cx="0" cy="1268150"/>
          </a:xfrm>
          <a:prstGeom prst="line">
            <a:avLst/>
          </a:prstGeom>
          <a:ln w="76200">
            <a:solidFill>
              <a:srgbClr val="584300"/>
            </a:solidFill>
          </a:ln>
        </p:spPr>
        <p:style>
          <a:lnRef idx="3">
            <a:schemeClr val="accent3"/>
          </a:lnRef>
          <a:fillRef idx="0">
            <a:schemeClr val="accent3"/>
          </a:fillRef>
          <a:effectRef idx="2">
            <a:schemeClr val="accent3"/>
          </a:effectRef>
          <a:fontRef idx="minor">
            <a:schemeClr val="tx1"/>
          </a:fontRef>
        </p:style>
      </p:cxnSp>
      <p:pic>
        <p:nvPicPr>
          <p:cNvPr id="29" name="Picture 28">
            <a:extLst>
              <a:ext uri="{FF2B5EF4-FFF2-40B4-BE49-F238E27FC236}">
                <a16:creationId xmlns:a16="http://schemas.microsoft.com/office/drawing/2014/main" id="{3C71DEF2-4CF3-C5DC-6E59-E02300D8E307}"/>
              </a:ext>
            </a:extLst>
          </p:cNvPr>
          <p:cNvPicPr>
            <a:picLocks noChangeAspect="1"/>
          </p:cNvPicPr>
          <p:nvPr/>
        </p:nvPicPr>
        <p:blipFill>
          <a:blip r:embed="rId4"/>
          <a:stretch>
            <a:fillRect/>
          </a:stretch>
        </p:blipFill>
        <p:spPr>
          <a:xfrm>
            <a:off x="11360182" y="13404394"/>
            <a:ext cx="9651039" cy="4825318"/>
          </a:xfrm>
          <a:prstGeom prst="rect">
            <a:avLst/>
          </a:prstGeom>
        </p:spPr>
      </p:pic>
      <p:grpSp>
        <p:nvGrpSpPr>
          <p:cNvPr id="187" name="Group 186">
            <a:extLst>
              <a:ext uri="{FF2B5EF4-FFF2-40B4-BE49-F238E27FC236}">
                <a16:creationId xmlns:a16="http://schemas.microsoft.com/office/drawing/2014/main" id="{8EBB42B9-29D9-68D5-4ECD-1115C1674823}"/>
              </a:ext>
            </a:extLst>
          </p:cNvPr>
          <p:cNvGrpSpPr/>
          <p:nvPr/>
        </p:nvGrpSpPr>
        <p:grpSpPr>
          <a:xfrm>
            <a:off x="21674315" y="11978837"/>
            <a:ext cx="10655188" cy="6669782"/>
            <a:chOff x="21839459" y="13182637"/>
            <a:chExt cx="10059202" cy="6199514"/>
          </a:xfrm>
        </p:grpSpPr>
        <p:sp>
          <p:nvSpPr>
            <p:cNvPr id="13" name="TextBox 12">
              <a:extLst>
                <a:ext uri="{FF2B5EF4-FFF2-40B4-BE49-F238E27FC236}">
                  <a16:creationId xmlns:a16="http://schemas.microsoft.com/office/drawing/2014/main" id="{EC82E632-87A4-2087-4C24-A48DD46503BC}"/>
                </a:ext>
              </a:extLst>
            </p:cNvPr>
            <p:cNvSpPr txBox="1"/>
            <p:nvPr/>
          </p:nvSpPr>
          <p:spPr>
            <a:xfrm>
              <a:off x="21839459" y="13796359"/>
              <a:ext cx="10059202" cy="5585792"/>
            </a:xfrm>
            <a:prstGeom prst="rect">
              <a:avLst/>
            </a:prstGeom>
            <a:solidFill>
              <a:schemeClr val="bg1">
                <a:lumMod val="95000"/>
              </a:schemeClr>
            </a:solidFill>
            <a:ln>
              <a:solidFill>
                <a:schemeClr val="tx1"/>
              </a:solidFill>
            </a:ln>
          </p:spPr>
          <p:txBody>
            <a:bodyPr rot="0" spcFirstLastPara="0" vertOverflow="overflow" horzOverflow="overflow" vert="horz" wrap="square" lIns="115481" tIns="57741" rIns="115481" bIns="57741" numCol="1" spcCol="0" rtlCol="0" fromWordArt="0" anchor="t" anchorCtr="0" forceAA="0" compatLnSpc="1">
              <a:prstTxWarp prst="textNoShape">
                <a:avLst/>
              </a:prstTxWarp>
              <a:spAutoFit/>
            </a:bodyPr>
            <a:lstStyle/>
            <a:p>
              <a:r>
                <a:rPr lang="en-US" sz="2460">
                  <a:latin typeface="Calibri" panose="020F0502020204030204" pitchFamily="34" charset="0"/>
                  <a:ea typeface="Calibri" panose="020F0502020204030204" pitchFamily="34" charset="0"/>
                  <a:cs typeface="Calibri" panose="020F0502020204030204" pitchFamily="34" charset="0"/>
                </a:rPr>
                <a:t>				High-risk nations receive less finance</a:t>
              </a:r>
            </a:p>
            <a:p>
              <a:endParaRPr lang="en-US" sz="3079">
                <a:latin typeface="Garamond" panose="02020404030301010803" pitchFamily="18" charset="0"/>
              </a:endParaRPr>
            </a:p>
            <a:p>
              <a:endParaRPr lang="en-US" sz="3079">
                <a:latin typeface="Garamond" panose="02020404030301010803" pitchFamily="18" charset="0"/>
              </a:endParaRPr>
            </a:p>
            <a:p>
              <a:endParaRPr lang="en-US" sz="3079">
                <a:latin typeface="Garamond" panose="02020404030301010803" pitchFamily="18" charset="0"/>
              </a:endParaRPr>
            </a:p>
            <a:p>
              <a:endParaRPr lang="en-US" sz="3079">
                <a:latin typeface="Garamond" panose="02020404030301010803" pitchFamily="18" charset="0"/>
              </a:endParaRPr>
            </a:p>
            <a:p>
              <a:endParaRPr lang="en-US" sz="3079">
                <a:latin typeface="Garamond" panose="02020404030301010803" pitchFamily="18" charset="0"/>
              </a:endParaRPr>
            </a:p>
            <a:p>
              <a:endParaRPr lang="en-US" sz="3079">
                <a:latin typeface="Garamond" panose="02020404030301010803" pitchFamily="18" charset="0"/>
              </a:endParaRPr>
            </a:p>
            <a:p>
              <a:endParaRPr lang="en-US" sz="3079">
                <a:latin typeface="Garamond" panose="02020404030301010803" pitchFamily="18" charset="0"/>
              </a:endParaRPr>
            </a:p>
            <a:p>
              <a:endParaRPr lang="en-US" sz="3079">
                <a:latin typeface="Garamond" panose="02020404030301010803" pitchFamily="18" charset="0"/>
              </a:endParaRPr>
            </a:p>
            <a:p>
              <a:r>
                <a:rPr lang="en-GB" sz="2800">
                  <a:latin typeface="Calibri" panose="020F0502020204030204" pitchFamily="34" charset="0"/>
                  <a:ea typeface="Calibri" panose="020F0502020204030204" pitchFamily="34" charset="0"/>
                  <a:cs typeface="Calibri" panose="020F0502020204030204" pitchFamily="34" charset="0"/>
                </a:rPr>
                <a:t>	Several </a:t>
              </a:r>
              <a:r>
                <a:rPr lang="en-GB" sz="2800" b="1">
                  <a:latin typeface="Calibri" panose="020F0502020204030204" pitchFamily="34" charset="0"/>
                  <a:ea typeface="Calibri" panose="020F0502020204030204" pitchFamily="34" charset="0"/>
                  <a:cs typeface="Calibri" panose="020F0502020204030204" pitchFamily="34" charset="0"/>
                </a:rPr>
                <a:t>low to medium risk </a:t>
              </a:r>
              <a:r>
                <a:rPr lang="en-GB" sz="2800">
                  <a:latin typeface="Calibri" panose="020F0502020204030204" pitchFamily="34" charset="0"/>
                  <a:ea typeface="Calibri" panose="020F0502020204030204" pitchFamily="34" charset="0"/>
                  <a:cs typeface="Calibri" panose="020F0502020204030204" pitchFamily="34" charset="0"/>
                </a:rPr>
                <a:t>countries, such as </a:t>
              </a:r>
              <a:r>
                <a:rPr lang="en-GB" sz="2800" b="1">
                  <a:latin typeface="Calibri" panose="020F0502020204030204" pitchFamily="34" charset="0"/>
                  <a:ea typeface="Calibri" panose="020F0502020204030204" pitchFamily="34" charset="0"/>
                  <a:cs typeface="Calibri" panose="020F0502020204030204" pitchFamily="34" charset="0"/>
                </a:rPr>
                <a:t>Antigua and Barbuda</a:t>
              </a:r>
              <a:r>
                <a:rPr lang="en-GB" sz="2800">
                  <a:latin typeface="Calibri" panose="020F0502020204030204" pitchFamily="34" charset="0"/>
                  <a:ea typeface="Calibri" panose="020F0502020204030204" pitchFamily="34" charset="0"/>
                  <a:cs typeface="Calibri" panose="020F0502020204030204" pitchFamily="34" charset="0"/>
                </a:rPr>
                <a:t>, 	receive substantially higher mitigation and adaptation finance than 	</a:t>
              </a:r>
              <a:r>
                <a:rPr lang="en-GB" sz="2800" b="1">
                  <a:latin typeface="Calibri" panose="020F0502020204030204" pitchFamily="34" charset="0"/>
                  <a:ea typeface="Calibri" panose="020F0502020204030204" pitchFamily="34" charset="0"/>
                  <a:cs typeface="Calibri" panose="020F0502020204030204" pitchFamily="34" charset="0"/>
                </a:rPr>
                <a:t>higher‑risk countries</a:t>
              </a:r>
              <a:r>
                <a:rPr lang="en-GB" sz="2800">
                  <a:latin typeface="Calibri" panose="020F0502020204030204" pitchFamily="34" charset="0"/>
                  <a:ea typeface="Calibri" panose="020F0502020204030204" pitchFamily="34" charset="0"/>
                  <a:cs typeface="Calibri" panose="020F0502020204030204" pitchFamily="34" charset="0"/>
                </a:rPr>
                <a:t>, including </a:t>
              </a:r>
              <a:r>
                <a:rPr lang="en-GB" sz="2800" b="1">
                  <a:latin typeface="Calibri" panose="020F0502020204030204" pitchFamily="34" charset="0"/>
                  <a:ea typeface="Calibri" panose="020F0502020204030204" pitchFamily="34" charset="0"/>
                  <a:cs typeface="Calibri" panose="020F0502020204030204" pitchFamily="34" charset="0"/>
                </a:rPr>
                <a:t>Bangladesh and Mauritania.</a:t>
              </a:r>
              <a:r>
                <a:rPr lang="en-US" sz="2800" b="1">
                  <a:latin typeface="Calibri" panose="020F0502020204030204" pitchFamily="34" charset="0"/>
                  <a:ea typeface="Calibri" panose="020F0502020204030204" pitchFamily="34" charset="0"/>
                  <a:cs typeface="Calibri" panose="020F0502020204030204" pitchFamily="34" charset="0"/>
                </a:rPr>
                <a:t> </a:t>
              </a:r>
              <a:endParaRPr lang="en-US" sz="2400" b="1">
                <a:latin typeface="Calibri" panose="020F0502020204030204" pitchFamily="34" charset="0"/>
                <a:ea typeface="Calibri" panose="020F0502020204030204" pitchFamily="34" charset="0"/>
                <a:cs typeface="Calibri" panose="020F0502020204030204" pitchFamily="34" charset="0"/>
              </a:endParaRPr>
            </a:p>
            <a:p>
              <a:endParaRPr lang="en-US" sz="2800" b="1">
                <a:latin typeface="Calibri" panose="020F0502020204030204" pitchFamily="34" charset="0"/>
                <a:ea typeface="Calibri" panose="020F0502020204030204" pitchFamily="34" charset="0"/>
                <a:cs typeface="Calibri" panose="020F0502020204030204" pitchFamily="34" charset="0"/>
              </a:endParaRPr>
            </a:p>
          </p:txBody>
        </p:sp>
        <p:grpSp>
          <p:nvGrpSpPr>
            <p:cNvPr id="41" name="Group 40">
              <a:extLst>
                <a:ext uri="{FF2B5EF4-FFF2-40B4-BE49-F238E27FC236}">
                  <a16:creationId xmlns:a16="http://schemas.microsoft.com/office/drawing/2014/main" id="{86C752FA-2A3E-E7BE-B063-E0D7FEE458E7}"/>
                </a:ext>
              </a:extLst>
            </p:cNvPr>
            <p:cNvGrpSpPr/>
            <p:nvPr/>
          </p:nvGrpSpPr>
          <p:grpSpPr>
            <a:xfrm>
              <a:off x="21841116" y="13182637"/>
              <a:ext cx="10057544" cy="638371"/>
              <a:chOff x="0" y="0"/>
              <a:chExt cx="1392288" cy="294839"/>
            </a:xfrm>
            <a:solidFill>
              <a:srgbClr val="FFE38B"/>
            </a:solidFill>
          </p:grpSpPr>
          <p:sp>
            <p:nvSpPr>
              <p:cNvPr id="42" name="Rectangle: Rounded Corners 41">
                <a:extLst>
                  <a:ext uri="{FF2B5EF4-FFF2-40B4-BE49-F238E27FC236}">
                    <a16:creationId xmlns:a16="http://schemas.microsoft.com/office/drawing/2014/main" id="{A962640C-01E1-9463-ED3E-3444D0EA3CB4}"/>
                  </a:ext>
                </a:extLst>
              </p:cNvPr>
              <p:cNvSpPr/>
              <p:nvPr/>
            </p:nvSpPr>
            <p:spPr>
              <a:xfrm>
                <a:off x="0" y="0"/>
                <a:ext cx="1392288" cy="294839"/>
              </a:xfrm>
              <a:prstGeom prst="roundRect">
                <a:avLst/>
              </a:prstGeom>
              <a:solidFill>
                <a:schemeClr val="bg2">
                  <a:lumMod val="5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sz="3079"/>
              </a:p>
            </p:txBody>
          </p:sp>
          <p:sp>
            <p:nvSpPr>
              <p:cNvPr id="43" name="Rectangle: Rounded Corners 4">
                <a:extLst>
                  <a:ext uri="{FF2B5EF4-FFF2-40B4-BE49-F238E27FC236}">
                    <a16:creationId xmlns:a16="http://schemas.microsoft.com/office/drawing/2014/main" id="{305F3964-83F3-3923-4C77-4385F56612E6}"/>
                  </a:ext>
                </a:extLst>
              </p:cNvPr>
              <p:cNvSpPr txBox="1"/>
              <p:nvPr/>
            </p:nvSpPr>
            <p:spPr>
              <a:xfrm>
                <a:off x="14393" y="14393"/>
                <a:ext cx="1363502" cy="266053"/>
              </a:xfrm>
              <a:prstGeom prst="rect">
                <a:avLst/>
              </a:prstGeom>
              <a:solidFill>
                <a:schemeClr val="bg2">
                  <a:lumMod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7741" tIns="57741" rIns="57741" bIns="57741" numCol="1" spcCol="1270" anchor="ctr" anchorCtr="0">
                <a:noAutofit/>
              </a:bodyPr>
              <a:lstStyle/>
              <a:p>
                <a:pPr defTabSz="673691">
                  <a:lnSpc>
                    <a:spcPct val="90000"/>
                  </a:lnSpc>
                  <a:spcBef>
                    <a:spcPct val="0"/>
                  </a:spcBef>
                  <a:spcAft>
                    <a:spcPct val="35000"/>
                  </a:spcAft>
                </a:pPr>
                <a:r>
                  <a:rPr lang="en-GB" sz="3000" b="1">
                    <a:solidFill>
                      <a:schemeClr val="bg1"/>
                    </a:solidFill>
                    <a:latin typeface="Georgia" panose="02040502050405020303" pitchFamily="18" charset="0"/>
                    <a:cs typeface="Helvetica" panose="020B0604020202020204" pitchFamily="34" charset="0"/>
                  </a:rPr>
                  <a:t>07 – The mismatch</a:t>
                </a:r>
              </a:p>
            </p:txBody>
          </p:sp>
        </p:grpSp>
        <p:pic>
          <p:nvPicPr>
            <p:cNvPr id="108" name="Picture 107">
              <a:extLst>
                <a:ext uri="{FF2B5EF4-FFF2-40B4-BE49-F238E27FC236}">
                  <a16:creationId xmlns:a16="http://schemas.microsoft.com/office/drawing/2014/main" id="{181533C3-4C2C-2FAE-5F71-093AE44627CE}"/>
                </a:ext>
              </a:extLst>
            </p:cNvPr>
            <p:cNvPicPr>
              <a:picLocks noChangeAspect="1"/>
            </p:cNvPicPr>
            <p:nvPr/>
          </p:nvPicPr>
          <p:blipFill>
            <a:blip r:embed="rId5"/>
            <a:stretch>
              <a:fillRect/>
            </a:stretch>
          </p:blipFill>
          <p:spPr>
            <a:xfrm>
              <a:off x="22538911" y="14472728"/>
              <a:ext cx="8660297" cy="3093446"/>
            </a:xfrm>
            <a:prstGeom prst="rect">
              <a:avLst/>
            </a:prstGeom>
          </p:spPr>
        </p:pic>
      </p:grpSp>
      <p:graphicFrame>
        <p:nvGraphicFramePr>
          <p:cNvPr id="91" name="Table 90">
            <a:extLst>
              <a:ext uri="{FF2B5EF4-FFF2-40B4-BE49-F238E27FC236}">
                <a16:creationId xmlns:a16="http://schemas.microsoft.com/office/drawing/2014/main" id="{249B2BC2-3EA6-2BB2-0120-C31807F607E7}"/>
              </a:ext>
            </a:extLst>
          </p:cNvPr>
          <p:cNvGraphicFramePr>
            <a:graphicFrameLocks noGrp="1"/>
          </p:cNvGraphicFramePr>
          <p:nvPr>
            <p:extLst>
              <p:ext uri="{D42A27DB-BD31-4B8C-83A1-F6EECF244321}">
                <p14:modId xmlns:p14="http://schemas.microsoft.com/office/powerpoint/2010/main" val="2638871593"/>
              </p:ext>
            </p:extLst>
          </p:nvPr>
        </p:nvGraphicFramePr>
        <p:xfrm>
          <a:off x="0" y="27072351"/>
          <a:ext cx="43875010" cy="5829875"/>
        </p:xfrm>
        <a:graphic>
          <a:graphicData uri="http://schemas.openxmlformats.org/drawingml/2006/table">
            <a:tbl>
              <a:tblPr firstRow="1" bandRow="1">
                <a:tableStyleId>{5940675A-B579-460E-94D1-54222C63F5DA}</a:tableStyleId>
              </a:tblPr>
              <a:tblGrid>
                <a:gridCol w="10968753">
                  <a:extLst>
                    <a:ext uri="{9D8B030D-6E8A-4147-A177-3AD203B41FA5}">
                      <a16:colId xmlns:a16="http://schemas.microsoft.com/office/drawing/2014/main" val="786316947"/>
                    </a:ext>
                  </a:extLst>
                </a:gridCol>
                <a:gridCol w="10835895">
                  <a:extLst>
                    <a:ext uri="{9D8B030D-6E8A-4147-A177-3AD203B41FA5}">
                      <a16:colId xmlns:a16="http://schemas.microsoft.com/office/drawing/2014/main" val="3917194417"/>
                    </a:ext>
                  </a:extLst>
                </a:gridCol>
                <a:gridCol w="11101609">
                  <a:extLst>
                    <a:ext uri="{9D8B030D-6E8A-4147-A177-3AD203B41FA5}">
                      <a16:colId xmlns:a16="http://schemas.microsoft.com/office/drawing/2014/main" val="4134691606"/>
                    </a:ext>
                  </a:extLst>
                </a:gridCol>
                <a:gridCol w="10968753">
                  <a:extLst>
                    <a:ext uri="{9D8B030D-6E8A-4147-A177-3AD203B41FA5}">
                      <a16:colId xmlns:a16="http://schemas.microsoft.com/office/drawing/2014/main" val="809374079"/>
                    </a:ext>
                  </a:extLst>
                </a:gridCol>
              </a:tblGrid>
              <a:tr h="813353">
                <a:tc>
                  <a:txBody>
                    <a:bodyPr/>
                    <a:lstStyle/>
                    <a:p>
                      <a:pPr algn="l"/>
                      <a:r>
                        <a:rPr lang="en-GB" sz="2400" b="1">
                          <a:solidFill>
                            <a:schemeClr val="tx1"/>
                          </a:solidFill>
                          <a:latin typeface="Georgia" panose="02040502050405020303" pitchFamily="18" charset="0"/>
                        </a:rPr>
                        <a:t>                                                   Data &amp; Methods</a:t>
                      </a:r>
                    </a:p>
                  </a:txBody>
                  <a:tcPr marL="93746" marR="93746" marT="46874" marB="46874">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r>
                        <a:rPr lang="en-GB" sz="2800" b="1">
                          <a:solidFill>
                            <a:schemeClr val="tx1"/>
                          </a:solidFill>
                          <a:latin typeface="Georgia" panose="02040502050405020303" pitchFamily="18" charset="0"/>
                        </a:rPr>
                        <a:t>                                                                     </a:t>
                      </a:r>
                      <a:r>
                        <a:rPr lang="en-GB" sz="2400" b="1">
                          <a:solidFill>
                            <a:schemeClr val="tx1"/>
                          </a:solidFill>
                          <a:latin typeface="Georgia" panose="02040502050405020303" pitchFamily="18" charset="0"/>
                        </a:rPr>
                        <a:t>Limitations</a:t>
                      </a:r>
                      <a:r>
                        <a:rPr lang="en-GB" sz="2800" b="1">
                          <a:solidFill>
                            <a:schemeClr val="tx1"/>
                          </a:solidFill>
                          <a:latin typeface="Georgia" panose="02040502050405020303" pitchFamily="18" charset="0"/>
                        </a:rPr>
                        <a:t>  </a:t>
                      </a:r>
                    </a:p>
                  </a:txBody>
                  <a:tcPr marL="93746" marR="93746" marT="46874" marB="46874">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r>
                        <a:rPr lang="en-GB" sz="2400" b="1">
                          <a:solidFill>
                            <a:schemeClr val="tx1"/>
                          </a:solidFill>
                          <a:latin typeface="Georgia" panose="02040502050405020303" pitchFamily="18" charset="0"/>
                        </a:rPr>
                        <a:t>                                                                                          Future work </a:t>
                      </a:r>
                    </a:p>
                  </a:txBody>
                  <a:tcPr marL="93746" marR="93746" marT="46874" marB="46874">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r>
                        <a:rPr lang="en-GB" sz="2800" b="1">
                          <a:solidFill>
                            <a:schemeClr val="tx1"/>
                          </a:solidFill>
                          <a:latin typeface="Georgia" panose="02040502050405020303" pitchFamily="18" charset="0"/>
                        </a:rPr>
                        <a:t>                                                                             </a:t>
                      </a:r>
                      <a:r>
                        <a:rPr lang="en-GB" sz="2400" b="1">
                          <a:solidFill>
                            <a:schemeClr val="tx1"/>
                          </a:solidFill>
                          <a:latin typeface="Georgia" panose="02040502050405020303" pitchFamily="18" charset="0"/>
                        </a:rPr>
                        <a:t>References</a:t>
                      </a:r>
                    </a:p>
                  </a:txBody>
                  <a:tcPr marL="93746" marR="93746" marT="46874" marB="46874">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115530773"/>
                  </a:ext>
                </a:extLst>
              </a:tr>
              <a:tr h="5016522">
                <a:tc>
                  <a:txBody>
                    <a:bodyPr/>
                    <a:lstStyle/>
                    <a:p>
                      <a:endParaRPr lang="en-GB" sz="8200" b="1">
                        <a:ln>
                          <a:solidFill>
                            <a:schemeClr val="tx1"/>
                          </a:solidFill>
                        </a:ln>
                      </a:endParaRPr>
                    </a:p>
                  </a:txBody>
                  <a:tcPr marL="93746" marR="93746" marT="46874" marB="46874">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endParaRPr lang="en-GB" sz="8200"/>
                    </a:p>
                  </a:txBody>
                  <a:tcPr marL="93746" marR="93746" marT="46874" marB="46874">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endParaRPr lang="en-GB" sz="8200"/>
                    </a:p>
                  </a:txBody>
                  <a:tcPr marL="93746" marR="93746" marT="46874" marB="46874">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endParaRPr lang="en-GB" sz="8200"/>
                    </a:p>
                  </a:txBody>
                  <a:tcPr marL="93746" marR="93746" marT="46874" marB="46874">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2419762"/>
                  </a:ext>
                </a:extLst>
              </a:tr>
            </a:tbl>
          </a:graphicData>
        </a:graphic>
      </p:graphicFrame>
      <p:cxnSp>
        <p:nvCxnSpPr>
          <p:cNvPr id="93" name="Straight Connector 92">
            <a:extLst>
              <a:ext uri="{FF2B5EF4-FFF2-40B4-BE49-F238E27FC236}">
                <a16:creationId xmlns:a16="http://schemas.microsoft.com/office/drawing/2014/main" id="{1276354B-A5CB-B06B-DC0B-A0D1388CAEA0}"/>
              </a:ext>
              <a:ext uri="{C183D7F6-B498-43B3-948B-1728B52AA6E4}">
                <adec:decorative xmlns:adec="http://schemas.microsoft.com/office/drawing/2017/decorative" val="1"/>
              </a:ext>
            </a:extLst>
          </p:cNvPr>
          <p:cNvCxnSpPr>
            <a:cxnSpLocks/>
          </p:cNvCxnSpPr>
          <p:nvPr/>
        </p:nvCxnSpPr>
        <p:spPr>
          <a:xfrm>
            <a:off x="259910" y="27547746"/>
            <a:ext cx="11391761" cy="6870"/>
          </a:xfrm>
          <a:prstGeom prst="line">
            <a:avLst/>
          </a:prstGeom>
          <a:ln w="3175">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6611564B-B074-D522-C355-186059CC517E}"/>
              </a:ext>
              <a:ext uri="{C183D7F6-B498-43B3-948B-1728B52AA6E4}">
                <adec:decorative xmlns:adec="http://schemas.microsoft.com/office/drawing/2017/decorative" val="1"/>
              </a:ext>
            </a:extLst>
          </p:cNvPr>
          <p:cNvCxnSpPr>
            <a:cxnSpLocks/>
          </p:cNvCxnSpPr>
          <p:nvPr/>
        </p:nvCxnSpPr>
        <p:spPr>
          <a:xfrm>
            <a:off x="13321092" y="27541706"/>
            <a:ext cx="11573704" cy="0"/>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EF53647C-B55D-100D-6691-50D735D86C07}"/>
              </a:ext>
              <a:ext uri="{C183D7F6-B498-43B3-948B-1728B52AA6E4}">
                <adec:decorative xmlns:adec="http://schemas.microsoft.com/office/drawing/2017/decorative" val="1"/>
              </a:ext>
            </a:extLst>
          </p:cNvPr>
          <p:cNvCxnSpPr>
            <a:cxnSpLocks/>
          </p:cNvCxnSpPr>
          <p:nvPr/>
        </p:nvCxnSpPr>
        <p:spPr>
          <a:xfrm>
            <a:off x="25765811" y="27535260"/>
            <a:ext cx="11528318" cy="12486"/>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A480615A-0914-AB1C-8A36-77CBCC3E58EC}"/>
              </a:ext>
              <a:ext uri="{C183D7F6-B498-43B3-948B-1728B52AA6E4}">
                <adec:decorative xmlns:adec="http://schemas.microsoft.com/office/drawing/2017/decorative" val="1"/>
              </a:ext>
            </a:extLst>
          </p:cNvPr>
          <p:cNvCxnSpPr>
            <a:cxnSpLocks/>
          </p:cNvCxnSpPr>
          <p:nvPr/>
        </p:nvCxnSpPr>
        <p:spPr>
          <a:xfrm flipH="1" flipV="1">
            <a:off x="12566613" y="27097498"/>
            <a:ext cx="34839" cy="5806615"/>
          </a:xfrm>
          <a:prstGeom prst="line">
            <a:avLst/>
          </a:prstGeom>
          <a:ln w="3175">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0" name="Straight Connector 99">
            <a:extLst>
              <a:ext uri="{FF2B5EF4-FFF2-40B4-BE49-F238E27FC236}">
                <a16:creationId xmlns:a16="http://schemas.microsoft.com/office/drawing/2014/main" id="{AC86908D-362B-BFC9-8E65-30DE8396C520}"/>
              </a:ext>
              <a:ext uri="{C183D7F6-B498-43B3-948B-1728B52AA6E4}">
                <adec:decorative xmlns:adec="http://schemas.microsoft.com/office/drawing/2017/decorative" val="1"/>
              </a:ext>
            </a:extLst>
          </p:cNvPr>
          <p:cNvCxnSpPr>
            <a:cxnSpLocks/>
          </p:cNvCxnSpPr>
          <p:nvPr/>
        </p:nvCxnSpPr>
        <p:spPr>
          <a:xfrm flipV="1">
            <a:off x="25355429" y="27097498"/>
            <a:ext cx="0" cy="5806615"/>
          </a:xfrm>
          <a:prstGeom prst="line">
            <a:avLst/>
          </a:prstGeom>
          <a:ln w="3175">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1" name="Straight Connector 100">
            <a:extLst>
              <a:ext uri="{FF2B5EF4-FFF2-40B4-BE49-F238E27FC236}">
                <a16:creationId xmlns:a16="http://schemas.microsoft.com/office/drawing/2014/main" id="{63DC0BD1-674D-B43F-3167-0AFDBB007FC5}"/>
              </a:ext>
              <a:ext uri="{C183D7F6-B498-43B3-948B-1728B52AA6E4}">
                <adec:decorative xmlns:adec="http://schemas.microsoft.com/office/drawing/2017/decorative" val="1"/>
              </a:ext>
            </a:extLst>
          </p:cNvPr>
          <p:cNvCxnSpPr>
            <a:cxnSpLocks/>
          </p:cNvCxnSpPr>
          <p:nvPr/>
        </p:nvCxnSpPr>
        <p:spPr>
          <a:xfrm flipV="1">
            <a:off x="37704508" y="27072351"/>
            <a:ext cx="0" cy="5829875"/>
          </a:xfrm>
          <a:prstGeom prst="line">
            <a:avLst/>
          </a:prstGeom>
          <a:ln w="3175">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2" name="Straight Connector 101">
            <a:extLst>
              <a:ext uri="{FF2B5EF4-FFF2-40B4-BE49-F238E27FC236}">
                <a16:creationId xmlns:a16="http://schemas.microsoft.com/office/drawing/2014/main" id="{1826E77C-C267-A44E-D970-D4112050DABE}"/>
              </a:ext>
              <a:ext uri="{C183D7F6-B498-43B3-948B-1728B52AA6E4}">
                <adec:decorative xmlns:adec="http://schemas.microsoft.com/office/drawing/2017/decorative" val="1"/>
              </a:ext>
            </a:extLst>
          </p:cNvPr>
          <p:cNvCxnSpPr>
            <a:cxnSpLocks/>
          </p:cNvCxnSpPr>
          <p:nvPr/>
        </p:nvCxnSpPr>
        <p:spPr>
          <a:xfrm>
            <a:off x="38201027" y="27551181"/>
            <a:ext cx="5397348" cy="0"/>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sp>
        <p:nvSpPr>
          <p:cNvPr id="105" name="TextBox 104">
            <a:extLst>
              <a:ext uri="{FF2B5EF4-FFF2-40B4-BE49-F238E27FC236}">
                <a16:creationId xmlns:a16="http://schemas.microsoft.com/office/drawing/2014/main" id="{56B3F019-12F1-1ECB-288A-324FDAE30256}"/>
              </a:ext>
            </a:extLst>
          </p:cNvPr>
          <p:cNvSpPr txBox="1"/>
          <p:nvPr/>
        </p:nvSpPr>
        <p:spPr>
          <a:xfrm>
            <a:off x="245615" y="27573193"/>
            <a:ext cx="12223379" cy="5248681"/>
          </a:xfrm>
          <a:prstGeom prst="rect">
            <a:avLst/>
          </a:prstGeom>
          <a:noFill/>
        </p:spPr>
        <p:txBody>
          <a:bodyPr wrap="square" rtlCol="0">
            <a:spAutoFit/>
          </a:bodyPr>
          <a:lstStyle/>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Open‑source data were sourced from the World Bank, OECD, EM‑DAT, ND‑GAIN, and the Climate Policy Initiative.</a:t>
            </a:r>
          </a:p>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Datasets were merged by country code, country name, and year.</a:t>
            </a:r>
          </a:p>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Missing GDP and population data were initially handled using linear interpolation; observations with insufficient data for interpolation were excluded.</a:t>
            </a:r>
          </a:p>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Total damages and adaptation and mitigation finance were imputed as zero where no records existed, acknowledging potential model bias. Climate risk was defined as the normalised average of vulnerability and (1 − readiness). Institutional quality was measured as the average of rule of law and control of corruption.</a:t>
            </a:r>
          </a:p>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GDP, finance allocations, and damages were converted to per‑capita values and log‑transformed to reduce skewness.</a:t>
            </a:r>
          </a:p>
          <a:p>
            <a:pPr marL="351560" indent="-351560">
              <a:lnSpc>
                <a:spcPct val="150000"/>
              </a:lnSpc>
              <a:buAutoNum type="arabicPeriod"/>
            </a:pPr>
            <a:r>
              <a:rPr lang="it-IT" sz="2050">
                <a:latin typeface="Calibri" panose="020F0502020204030204" pitchFamily="34" charset="0"/>
                <a:ea typeface="Calibri" panose="020F0502020204030204" pitchFamily="34" charset="0"/>
                <a:cs typeface="Calibri" panose="020F0502020204030204" pitchFamily="34" charset="0"/>
              </a:rPr>
              <a:t>Target variable: log climate finance per capita.</a:t>
            </a:r>
            <a:endParaRPr lang="en-GB" sz="2050">
              <a:latin typeface="Calibri" panose="020F0502020204030204" pitchFamily="34" charset="0"/>
              <a:ea typeface="Calibri" panose="020F0502020204030204" pitchFamily="34" charset="0"/>
              <a:cs typeface="Calibri" panose="020F0502020204030204" pitchFamily="34" charset="0"/>
            </a:endParaRPr>
          </a:p>
        </p:txBody>
      </p:sp>
      <p:sp>
        <p:nvSpPr>
          <p:cNvPr id="111" name="TextBox 110">
            <a:extLst>
              <a:ext uri="{FF2B5EF4-FFF2-40B4-BE49-F238E27FC236}">
                <a16:creationId xmlns:a16="http://schemas.microsoft.com/office/drawing/2014/main" id="{50263601-61F8-9737-DC62-3E2F45D14F22}"/>
              </a:ext>
            </a:extLst>
          </p:cNvPr>
          <p:cNvSpPr txBox="1"/>
          <p:nvPr/>
        </p:nvSpPr>
        <p:spPr>
          <a:xfrm>
            <a:off x="12980290" y="27727469"/>
            <a:ext cx="12502825" cy="4889737"/>
          </a:xfrm>
          <a:prstGeom prst="rect">
            <a:avLst/>
          </a:prstGeom>
          <a:noFill/>
        </p:spPr>
        <p:txBody>
          <a:bodyPr wrap="square" rtlCol="0">
            <a:spAutoFit/>
          </a:bodyPr>
          <a:lstStyle/>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Climate Policy Initiative (CPI) data do not provide country‑level finance breakdowns, as reporting is largely regional; analysis was therefore restricted to OECD (CRDF) finance data.</a:t>
            </a:r>
          </a:p>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Annual total damage data contain substantial missing values across countries.</a:t>
            </a:r>
          </a:p>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Finance allocations are missing or underreported for several higher‑income countries, including the UK, US, Canada, Australia, and China.</a:t>
            </a:r>
          </a:p>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Climate finance aggregates heterogeneous instruments (grants, loans, equity) into a single measure, despite differing allocation logics that models cannot distinguish.</a:t>
            </a:r>
          </a:p>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This study is observational; estimated associations cannot be interpreted as causal.</a:t>
            </a:r>
          </a:p>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Unobserved factors—such as colonial history, donor–recipient trade relationships, or participation in international climate finance frameworks—may influence allocation patterns attributed to GDP or climate risk.</a:t>
            </a:r>
          </a:p>
        </p:txBody>
      </p:sp>
      <p:sp>
        <p:nvSpPr>
          <p:cNvPr id="114" name="TextBox 113">
            <a:extLst>
              <a:ext uri="{FF2B5EF4-FFF2-40B4-BE49-F238E27FC236}">
                <a16:creationId xmlns:a16="http://schemas.microsoft.com/office/drawing/2014/main" id="{34174898-AE14-9E54-1837-41BA9987A060}"/>
              </a:ext>
            </a:extLst>
          </p:cNvPr>
          <p:cNvSpPr txBox="1"/>
          <p:nvPr/>
        </p:nvSpPr>
        <p:spPr>
          <a:xfrm>
            <a:off x="25610802" y="27726170"/>
            <a:ext cx="11683327" cy="4775474"/>
          </a:xfrm>
          <a:prstGeom prst="rect">
            <a:avLst/>
          </a:prstGeom>
          <a:noFill/>
        </p:spPr>
        <p:txBody>
          <a:bodyPr wrap="square" rtlCol="0">
            <a:spAutoFit/>
          </a:bodyPr>
          <a:lstStyle/>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Expand disaster damage coverage using alternative sources such as Swiss Re Institute natural catastrophe data to improve robustness of damage estimates.</a:t>
            </a:r>
          </a:p>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Apply machine‑learning methods to further identify strategic and political drivers influencing climate finance allocation and wealth effects.</a:t>
            </a:r>
          </a:p>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Separately model public and private climate finance to test whether public finance responds more strongly to physical climate risk than return‑driven private capital.</a:t>
            </a:r>
          </a:p>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Examine how different financing purposes (e.g. adaptation vs mitigation) reflect donor priorities and global climate finance governance frameworks.</a:t>
            </a:r>
          </a:p>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Assess how post‑COVID‑19 and conflict‑related economic shocks have altered climate finance sources, volumes, and allocation patterns.</a:t>
            </a:r>
          </a:p>
        </p:txBody>
      </p:sp>
      <p:sp>
        <p:nvSpPr>
          <p:cNvPr id="116" name="TextBox 115">
            <a:extLst>
              <a:ext uri="{FF2B5EF4-FFF2-40B4-BE49-F238E27FC236}">
                <a16:creationId xmlns:a16="http://schemas.microsoft.com/office/drawing/2014/main" id="{005EB546-3B54-C9A4-02B9-4A29BEEC63ED}"/>
              </a:ext>
            </a:extLst>
          </p:cNvPr>
          <p:cNvSpPr txBox="1"/>
          <p:nvPr/>
        </p:nvSpPr>
        <p:spPr>
          <a:xfrm>
            <a:off x="37938614" y="27731823"/>
            <a:ext cx="5659761" cy="4302268"/>
          </a:xfrm>
          <a:prstGeom prst="rect">
            <a:avLst/>
          </a:prstGeom>
          <a:noFill/>
        </p:spPr>
        <p:txBody>
          <a:bodyPr wrap="square" rtlCol="0">
            <a:spAutoFit/>
          </a:bodyPr>
          <a:lstStyle/>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Global Landscape of Climate Finance (GLCF), 2023 </a:t>
            </a:r>
          </a:p>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ND-Gain Country Index, 2025 </a:t>
            </a:r>
          </a:p>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Notre Dame University, 2023 </a:t>
            </a:r>
          </a:p>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World Bank Open Data,. 2024</a:t>
            </a:r>
          </a:p>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EM-DAT – The international disaster database, 2024 </a:t>
            </a:r>
          </a:p>
          <a:p>
            <a:pPr marL="351560" indent="-351560">
              <a:lnSpc>
                <a:spcPct val="150000"/>
              </a:lnSpc>
              <a:buAutoNum type="arabicPeriod"/>
            </a:pPr>
            <a:r>
              <a:rPr lang="en-GB" sz="2050">
                <a:latin typeface="Calibri" panose="020F0502020204030204" pitchFamily="34" charset="0"/>
                <a:ea typeface="Calibri" panose="020F0502020204030204" pitchFamily="34" charset="0"/>
                <a:cs typeface="Calibri" panose="020F0502020204030204" pitchFamily="34" charset="0"/>
              </a:rPr>
              <a:t> OECD – Climate and Development Finance Data, 2023 </a:t>
            </a:r>
          </a:p>
        </p:txBody>
      </p:sp>
      <p:grpSp>
        <p:nvGrpSpPr>
          <p:cNvPr id="189" name="Group 188">
            <a:extLst>
              <a:ext uri="{FF2B5EF4-FFF2-40B4-BE49-F238E27FC236}">
                <a16:creationId xmlns:a16="http://schemas.microsoft.com/office/drawing/2014/main" id="{2B4A434A-672F-51B9-F25E-1743B95983E5}"/>
              </a:ext>
            </a:extLst>
          </p:cNvPr>
          <p:cNvGrpSpPr/>
          <p:nvPr/>
        </p:nvGrpSpPr>
        <p:grpSpPr>
          <a:xfrm>
            <a:off x="10391297" y="20112485"/>
            <a:ext cx="11070138" cy="6673226"/>
            <a:chOff x="10533905" y="20824962"/>
            <a:chExt cx="10544768" cy="5726252"/>
          </a:xfrm>
          <a:solidFill>
            <a:schemeClr val="bg1">
              <a:lumMod val="95000"/>
            </a:schemeClr>
          </a:solidFill>
        </p:grpSpPr>
        <p:sp>
          <p:nvSpPr>
            <p:cNvPr id="15" name="TextBox 14">
              <a:extLst>
                <a:ext uri="{FF2B5EF4-FFF2-40B4-BE49-F238E27FC236}">
                  <a16:creationId xmlns:a16="http://schemas.microsoft.com/office/drawing/2014/main" id="{47E8A3CF-B11F-B612-17DC-2CF64B435BC5}"/>
                </a:ext>
              </a:extLst>
            </p:cNvPr>
            <p:cNvSpPr txBox="1"/>
            <p:nvPr/>
          </p:nvSpPr>
          <p:spPr>
            <a:xfrm>
              <a:off x="10533905" y="21554698"/>
              <a:ext cx="10544768" cy="4996516"/>
            </a:xfrm>
            <a:prstGeom prst="rect">
              <a:avLst/>
            </a:prstGeom>
            <a:grpFill/>
            <a:ln>
              <a:solidFill>
                <a:schemeClr val="tx1"/>
              </a:solidFill>
            </a:ln>
          </p:spPr>
          <p:txBody>
            <a:bodyPr rot="0" spcFirstLastPara="0" vertOverflow="overflow" horzOverflow="overflow" vert="horz" wrap="square" lIns="115481" tIns="57741" rIns="115481" bIns="57741" numCol="1" spcCol="0" rtlCol="0" fromWordArt="0" anchor="t" anchorCtr="0" forceAA="0" compatLnSpc="1">
              <a:prstTxWarp prst="textNoShape">
                <a:avLst/>
              </a:prstTxWarp>
              <a:spAutoFit/>
            </a:bodyPr>
            <a:lstStyle/>
            <a:p>
              <a:r>
                <a:rPr lang="en-US" sz="2800">
                  <a:latin typeface="Calibri" panose="020F0502020204030204" pitchFamily="34" charset="0"/>
                  <a:ea typeface="Calibri" panose="020F0502020204030204" pitchFamily="34" charset="0"/>
                  <a:cs typeface="Calibri" panose="020F0502020204030204" pitchFamily="34" charset="0"/>
                </a:rPr>
                <a:t>				XGBoost achieves highest explanatory power</a:t>
              </a: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2460">
                <a:latin typeface="Calibri" panose="020F0502020204030204" pitchFamily="34" charset="0"/>
                <a:ea typeface="Calibri" panose="020F0502020204030204" pitchFamily="34" charset="0"/>
                <a:cs typeface="Calibri" panose="020F0502020204030204" pitchFamily="34" charset="0"/>
              </a:endParaRPr>
            </a:p>
          </p:txBody>
        </p:sp>
        <p:grpSp>
          <p:nvGrpSpPr>
            <p:cNvPr id="47" name="Group 46">
              <a:extLst>
                <a:ext uri="{FF2B5EF4-FFF2-40B4-BE49-F238E27FC236}">
                  <a16:creationId xmlns:a16="http://schemas.microsoft.com/office/drawing/2014/main" id="{64F908D2-A3E4-B813-B206-8B44A85AF4DD}"/>
                </a:ext>
              </a:extLst>
            </p:cNvPr>
            <p:cNvGrpSpPr/>
            <p:nvPr/>
          </p:nvGrpSpPr>
          <p:grpSpPr>
            <a:xfrm>
              <a:off x="10533906" y="20824962"/>
              <a:ext cx="10544767" cy="734836"/>
              <a:chOff x="0" y="7203"/>
              <a:chExt cx="1392288" cy="287636"/>
            </a:xfrm>
            <a:grpFill/>
          </p:grpSpPr>
          <p:sp>
            <p:nvSpPr>
              <p:cNvPr id="48" name="Rectangle: Rounded Corners 47">
                <a:extLst>
                  <a:ext uri="{FF2B5EF4-FFF2-40B4-BE49-F238E27FC236}">
                    <a16:creationId xmlns:a16="http://schemas.microsoft.com/office/drawing/2014/main" id="{1D0B5B07-A7B5-11E9-6912-11A443AEDE0F}"/>
                  </a:ext>
                </a:extLst>
              </p:cNvPr>
              <p:cNvSpPr/>
              <p:nvPr/>
            </p:nvSpPr>
            <p:spPr>
              <a:xfrm>
                <a:off x="0" y="7203"/>
                <a:ext cx="1392288" cy="287636"/>
              </a:xfrm>
              <a:prstGeom prst="roundRect">
                <a:avLst/>
              </a:prstGeom>
              <a:solidFill>
                <a:schemeClr val="bg2">
                  <a:lumMod val="5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sz="3079">
                  <a:solidFill>
                    <a:schemeClr val="tx2">
                      <a:lumMod val="90000"/>
                      <a:lumOff val="10000"/>
                    </a:schemeClr>
                  </a:solidFill>
                </a:endParaRPr>
              </a:p>
            </p:txBody>
          </p:sp>
          <p:sp>
            <p:nvSpPr>
              <p:cNvPr id="49" name="Rectangle: Rounded Corners 4">
                <a:extLst>
                  <a:ext uri="{FF2B5EF4-FFF2-40B4-BE49-F238E27FC236}">
                    <a16:creationId xmlns:a16="http://schemas.microsoft.com/office/drawing/2014/main" id="{809F805F-CF45-70D8-388B-648F98C1EC5F}"/>
                  </a:ext>
                </a:extLst>
              </p:cNvPr>
              <p:cNvSpPr txBox="1"/>
              <p:nvPr/>
            </p:nvSpPr>
            <p:spPr>
              <a:xfrm>
                <a:off x="18062" y="55692"/>
                <a:ext cx="1374226" cy="224754"/>
              </a:xfrm>
              <a:prstGeom prst="rect">
                <a:avLst/>
              </a:prstGeom>
              <a:solidFill>
                <a:schemeClr val="bg2">
                  <a:lumMod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7741" tIns="57741" rIns="57741" bIns="57741" numCol="1" spcCol="1270" anchor="ctr" anchorCtr="0">
                <a:noAutofit/>
              </a:bodyPr>
              <a:lstStyle/>
              <a:p>
                <a:pPr defTabSz="673691">
                  <a:lnSpc>
                    <a:spcPct val="90000"/>
                  </a:lnSpc>
                  <a:spcBef>
                    <a:spcPct val="0"/>
                  </a:spcBef>
                  <a:spcAft>
                    <a:spcPct val="35000"/>
                  </a:spcAft>
                </a:pPr>
                <a:r>
                  <a:rPr lang="en-GB" sz="3000" b="1">
                    <a:solidFill>
                      <a:schemeClr val="bg1"/>
                    </a:solidFill>
                    <a:latin typeface="Georgia" panose="02040502050405020303" pitchFamily="18" charset="0"/>
                    <a:cs typeface="Helvetica" panose="020B0604020202020204" pitchFamily="34" charset="0"/>
                  </a:rPr>
                  <a:t>09 – Model Performance</a:t>
                </a:r>
              </a:p>
            </p:txBody>
          </p:sp>
        </p:grpSp>
        <p:pic>
          <p:nvPicPr>
            <p:cNvPr id="30" name="Picture 29" descr="A table with green and white text&#10;&#10;AI-generated content may be incorrect.">
              <a:extLst>
                <a:ext uri="{FF2B5EF4-FFF2-40B4-BE49-F238E27FC236}">
                  <a16:creationId xmlns:a16="http://schemas.microsoft.com/office/drawing/2014/main" id="{C2F035F5-44A3-529A-84F7-2BE065A667C0}"/>
                </a:ext>
              </a:extLst>
            </p:cNvPr>
            <p:cNvPicPr>
              <a:picLocks noChangeAspect="1"/>
            </p:cNvPicPr>
            <p:nvPr/>
          </p:nvPicPr>
          <p:blipFill>
            <a:blip r:embed="rId6"/>
            <a:stretch>
              <a:fillRect/>
            </a:stretch>
          </p:blipFill>
          <p:spPr>
            <a:xfrm>
              <a:off x="11669071" y="22251890"/>
              <a:ext cx="7311900" cy="2899500"/>
            </a:xfrm>
            <a:prstGeom prst="rect">
              <a:avLst/>
            </a:prstGeom>
            <a:grpFill/>
          </p:spPr>
        </p:pic>
        <p:sp>
          <p:nvSpPr>
            <p:cNvPr id="124" name="TextBox 123">
              <a:extLst>
                <a:ext uri="{FF2B5EF4-FFF2-40B4-BE49-F238E27FC236}">
                  <a16:creationId xmlns:a16="http://schemas.microsoft.com/office/drawing/2014/main" id="{8608F204-CE35-C47E-DD0C-2D6035EA65C5}"/>
                </a:ext>
              </a:extLst>
            </p:cNvPr>
            <p:cNvSpPr txBox="1"/>
            <p:nvPr/>
          </p:nvSpPr>
          <p:spPr>
            <a:xfrm>
              <a:off x="10707774" y="25300374"/>
              <a:ext cx="9963095" cy="1221662"/>
            </a:xfrm>
            <a:prstGeom prst="rect">
              <a:avLst/>
            </a:prstGeom>
            <a:grpFill/>
          </p:spPr>
          <p:txBody>
            <a:bodyPr wrap="square" rtlCol="0">
              <a:spAutoFit/>
            </a:bodyPr>
            <a:lstStyle/>
            <a:p>
              <a:r>
                <a:rPr lang="en-GB" sz="2800">
                  <a:latin typeface="Calibri" panose="020F0502020204030204" pitchFamily="34" charset="0"/>
                  <a:ea typeface="Calibri" panose="020F0502020204030204" pitchFamily="34" charset="0"/>
                  <a:cs typeface="Calibri" panose="020F0502020204030204" pitchFamily="34" charset="0"/>
                </a:rPr>
                <a:t>Minimal performance gains from </a:t>
              </a:r>
              <a:r>
                <a:rPr lang="en-GB" sz="2800" b="1">
                  <a:latin typeface="Calibri" panose="020F0502020204030204" pitchFamily="34" charset="0"/>
                  <a:ea typeface="Calibri" panose="020F0502020204030204" pitchFamily="34" charset="0"/>
                  <a:cs typeface="Calibri" panose="020F0502020204030204" pitchFamily="34" charset="0"/>
                </a:rPr>
                <a:t>non‑linear models </a:t>
              </a:r>
              <a:r>
                <a:rPr lang="en-GB" sz="2800">
                  <a:latin typeface="Calibri" panose="020F0502020204030204" pitchFamily="34" charset="0"/>
                  <a:ea typeface="Calibri" panose="020F0502020204030204" pitchFamily="34" charset="0"/>
                  <a:cs typeface="Calibri" panose="020F0502020204030204" pitchFamily="34" charset="0"/>
                </a:rPr>
                <a:t>imply that unobserved </a:t>
              </a:r>
              <a:r>
                <a:rPr lang="en-GB" sz="2800" b="1">
                  <a:latin typeface="Calibri" panose="020F0502020204030204" pitchFamily="34" charset="0"/>
                  <a:ea typeface="Calibri" panose="020F0502020204030204" pitchFamily="34" charset="0"/>
                  <a:cs typeface="Calibri" panose="020F0502020204030204" pitchFamily="34" charset="0"/>
                </a:rPr>
                <a:t>political and institutional dynamics</a:t>
              </a:r>
              <a:r>
                <a:rPr lang="en-GB" sz="2800">
                  <a:latin typeface="Calibri" panose="020F0502020204030204" pitchFamily="34" charset="0"/>
                  <a:ea typeface="Calibri" panose="020F0502020204030204" pitchFamily="34" charset="0"/>
                  <a:cs typeface="Calibri" panose="020F0502020204030204" pitchFamily="34" charset="0"/>
                </a:rPr>
                <a:t>, rather than </a:t>
              </a:r>
              <a:r>
                <a:rPr lang="en-GB" sz="2800" b="1">
                  <a:latin typeface="Calibri" panose="020F0502020204030204" pitchFamily="34" charset="0"/>
                  <a:ea typeface="Calibri" panose="020F0502020204030204" pitchFamily="34" charset="0"/>
                  <a:cs typeface="Calibri" panose="020F0502020204030204" pitchFamily="34" charset="0"/>
                </a:rPr>
                <a:t>physical vulnerability</a:t>
              </a:r>
              <a:r>
                <a:rPr lang="en-GB" sz="2800">
                  <a:latin typeface="Calibri" panose="020F0502020204030204" pitchFamily="34" charset="0"/>
                  <a:ea typeface="Calibri" panose="020F0502020204030204" pitchFamily="34" charset="0"/>
                  <a:cs typeface="Calibri" panose="020F0502020204030204" pitchFamily="34" charset="0"/>
                </a:rPr>
                <a:t>, primarily shape allocation outcomes.</a:t>
              </a:r>
            </a:p>
          </p:txBody>
        </p:sp>
      </p:grpSp>
      <p:grpSp>
        <p:nvGrpSpPr>
          <p:cNvPr id="190" name="Group 189">
            <a:extLst>
              <a:ext uri="{FF2B5EF4-FFF2-40B4-BE49-F238E27FC236}">
                <a16:creationId xmlns:a16="http://schemas.microsoft.com/office/drawing/2014/main" id="{FD7FBBBB-D837-71EC-D249-F8718344F972}"/>
              </a:ext>
            </a:extLst>
          </p:cNvPr>
          <p:cNvGrpSpPr/>
          <p:nvPr/>
        </p:nvGrpSpPr>
        <p:grpSpPr>
          <a:xfrm>
            <a:off x="21721072" y="18874370"/>
            <a:ext cx="21877303" cy="8033352"/>
            <a:chOff x="21909099" y="19695052"/>
            <a:chExt cx="21440716" cy="7036380"/>
          </a:xfrm>
        </p:grpSpPr>
        <p:sp>
          <p:nvSpPr>
            <p:cNvPr id="16" name="TextBox 15">
              <a:extLst>
                <a:ext uri="{FF2B5EF4-FFF2-40B4-BE49-F238E27FC236}">
                  <a16:creationId xmlns:a16="http://schemas.microsoft.com/office/drawing/2014/main" id="{0598E2FF-A2CC-650B-87F6-F8ABB788277E}"/>
                </a:ext>
              </a:extLst>
            </p:cNvPr>
            <p:cNvSpPr txBox="1"/>
            <p:nvPr/>
          </p:nvSpPr>
          <p:spPr>
            <a:xfrm>
              <a:off x="21941632" y="20283376"/>
              <a:ext cx="21368127" cy="6448056"/>
            </a:xfrm>
            <a:prstGeom prst="rect">
              <a:avLst/>
            </a:prstGeom>
            <a:solidFill>
              <a:schemeClr val="bg1">
                <a:lumMod val="95000"/>
              </a:schemeClr>
            </a:solidFill>
            <a:ln>
              <a:solidFill>
                <a:schemeClr val="tx1"/>
              </a:solidFill>
            </a:ln>
          </p:spPr>
          <p:txBody>
            <a:bodyPr rot="0" spcFirstLastPara="0" vertOverflow="overflow" horzOverflow="overflow" vert="horz" wrap="square" lIns="115481" tIns="57741" rIns="115481" bIns="57741" numCol="1" spcCol="0" rtlCol="0" fromWordArt="0" anchor="t" anchorCtr="0" forceAA="0" compatLnSpc="1">
              <a:prstTxWarp prst="textNoShape">
                <a:avLst/>
              </a:prstTxWarp>
              <a:spAutoFit/>
            </a:bodyPr>
            <a:lstStyle/>
            <a:p>
              <a:r>
                <a:rPr lang="en-GB" sz="2460">
                  <a:latin typeface="Calibri" panose="020F0502020204030204" pitchFamily="34" charset="0"/>
                  <a:ea typeface="Calibri" panose="020F0502020204030204" pitchFamily="34" charset="0"/>
                  <a:cs typeface="Calibri" panose="020F0502020204030204" pitchFamily="34" charset="0"/>
                </a:rPr>
                <a:t>			</a:t>
              </a:r>
            </a:p>
            <a:p>
              <a:endParaRPr lang="en-GB" sz="2800">
                <a:latin typeface="Calibri" panose="020F0502020204030204" pitchFamily="34" charset="0"/>
                <a:ea typeface="Calibri" panose="020F0502020204030204" pitchFamily="34" charset="0"/>
                <a:cs typeface="Calibri" panose="020F0502020204030204" pitchFamily="34" charset="0"/>
              </a:endParaRPr>
            </a:p>
            <a:p>
              <a:endParaRPr lang="en-GB" sz="2460">
                <a:latin typeface="Calibri" panose="020F0502020204030204" pitchFamily="34" charset="0"/>
                <a:ea typeface="Calibri" panose="020F0502020204030204" pitchFamily="34" charset="0"/>
                <a:cs typeface="Calibri" panose="020F0502020204030204" pitchFamily="34" charset="0"/>
              </a:endParaRPr>
            </a:p>
            <a:p>
              <a:endParaRPr lang="en-GB" sz="2460">
                <a:latin typeface="Calibri" panose="020F0502020204030204" pitchFamily="34" charset="0"/>
                <a:ea typeface="Calibri" panose="020F0502020204030204" pitchFamily="34" charset="0"/>
                <a:cs typeface="Calibri" panose="020F0502020204030204" pitchFamily="34" charset="0"/>
              </a:endParaRPr>
            </a:p>
            <a:p>
              <a:endParaRPr lang="en-GB" sz="2460">
                <a:latin typeface="Calibri" panose="020F0502020204030204" pitchFamily="34" charset="0"/>
                <a:ea typeface="Calibri" panose="020F0502020204030204" pitchFamily="34" charset="0"/>
                <a:cs typeface="Calibri" panose="020F0502020204030204" pitchFamily="34" charset="0"/>
              </a:endParaRPr>
            </a:p>
            <a:p>
              <a:endParaRPr lang="en-GB" sz="2460">
                <a:latin typeface="Calibri" panose="020F0502020204030204" pitchFamily="34" charset="0"/>
                <a:ea typeface="Calibri" panose="020F0502020204030204" pitchFamily="34" charset="0"/>
                <a:cs typeface="Calibri" panose="020F0502020204030204" pitchFamily="34" charset="0"/>
              </a:endParaRPr>
            </a:p>
            <a:p>
              <a:endParaRPr lang="en-GB" sz="2460">
                <a:latin typeface="Calibri" panose="020F0502020204030204" pitchFamily="34" charset="0"/>
                <a:ea typeface="Calibri" panose="020F0502020204030204" pitchFamily="34" charset="0"/>
                <a:cs typeface="Calibri" panose="020F0502020204030204" pitchFamily="34" charset="0"/>
              </a:endParaRPr>
            </a:p>
            <a:p>
              <a:endParaRPr lang="en-GB" sz="2460">
                <a:latin typeface="Calibri" panose="020F0502020204030204" pitchFamily="34" charset="0"/>
                <a:ea typeface="Calibri" panose="020F0502020204030204" pitchFamily="34" charset="0"/>
                <a:cs typeface="Calibri" panose="020F0502020204030204" pitchFamily="34" charset="0"/>
              </a:endParaRPr>
            </a:p>
            <a:p>
              <a:endParaRPr lang="en-GB" sz="2460">
                <a:latin typeface="Calibri" panose="020F0502020204030204" pitchFamily="34" charset="0"/>
                <a:ea typeface="Calibri" panose="020F0502020204030204" pitchFamily="34" charset="0"/>
                <a:cs typeface="Calibri" panose="020F0502020204030204" pitchFamily="34" charset="0"/>
              </a:endParaRPr>
            </a:p>
            <a:p>
              <a:endParaRPr lang="en-GB" sz="2460">
                <a:latin typeface="Calibri" panose="020F0502020204030204" pitchFamily="34" charset="0"/>
                <a:ea typeface="Calibri" panose="020F0502020204030204" pitchFamily="34" charset="0"/>
                <a:cs typeface="Calibri" panose="020F0502020204030204" pitchFamily="34" charset="0"/>
              </a:endParaRPr>
            </a:p>
            <a:p>
              <a:endParaRPr lang="en-GB" sz="2460">
                <a:latin typeface="Calibri" panose="020F0502020204030204" pitchFamily="34" charset="0"/>
                <a:ea typeface="Calibri" panose="020F0502020204030204" pitchFamily="34" charset="0"/>
                <a:cs typeface="Calibri" panose="020F0502020204030204" pitchFamily="34" charset="0"/>
              </a:endParaRPr>
            </a:p>
            <a:p>
              <a:endParaRPr lang="en-GB" sz="2460">
                <a:latin typeface="Calibri" panose="020F0502020204030204" pitchFamily="34" charset="0"/>
                <a:ea typeface="Calibri" panose="020F0502020204030204" pitchFamily="34" charset="0"/>
                <a:cs typeface="Calibri" panose="020F0502020204030204" pitchFamily="34" charset="0"/>
              </a:endParaRPr>
            </a:p>
            <a:p>
              <a:endParaRPr lang="en-GB" sz="2460">
                <a:latin typeface="Calibri" panose="020F0502020204030204" pitchFamily="34" charset="0"/>
                <a:ea typeface="Calibri" panose="020F0502020204030204" pitchFamily="34" charset="0"/>
                <a:cs typeface="Calibri" panose="020F0502020204030204" pitchFamily="34" charset="0"/>
              </a:endParaRPr>
            </a:p>
            <a:p>
              <a:endParaRPr lang="en-GB" sz="2460">
                <a:latin typeface="Calibri" panose="020F0502020204030204" pitchFamily="34" charset="0"/>
                <a:ea typeface="Calibri" panose="020F0502020204030204" pitchFamily="34" charset="0"/>
                <a:cs typeface="Calibri" panose="020F0502020204030204" pitchFamily="34" charset="0"/>
              </a:endParaRPr>
            </a:p>
            <a:p>
              <a:endParaRPr lang="en-GB" sz="2460">
                <a:latin typeface="Calibri" panose="020F0502020204030204" pitchFamily="34" charset="0"/>
                <a:ea typeface="Calibri" panose="020F0502020204030204" pitchFamily="34" charset="0"/>
                <a:cs typeface="Calibri" panose="020F0502020204030204" pitchFamily="34" charset="0"/>
              </a:endParaRPr>
            </a:p>
            <a:p>
              <a:endParaRPr lang="en-GB" sz="2460">
                <a:latin typeface="Calibri" panose="020F0502020204030204" pitchFamily="34" charset="0"/>
                <a:ea typeface="Calibri" panose="020F0502020204030204" pitchFamily="34" charset="0"/>
                <a:cs typeface="Calibri" panose="020F0502020204030204" pitchFamily="34" charset="0"/>
              </a:endParaRPr>
            </a:p>
            <a:p>
              <a:endParaRPr lang="en-GB" sz="2460">
                <a:latin typeface="Calibri" panose="020F0502020204030204" pitchFamily="34" charset="0"/>
                <a:ea typeface="Calibri" panose="020F0502020204030204" pitchFamily="34" charset="0"/>
                <a:cs typeface="Calibri" panose="020F0502020204030204" pitchFamily="34" charset="0"/>
              </a:endParaRPr>
            </a:p>
            <a:p>
              <a:endParaRPr lang="en-GB" sz="2460">
                <a:latin typeface="Calibri" panose="020F0502020204030204" pitchFamily="34" charset="0"/>
                <a:ea typeface="Calibri" panose="020F0502020204030204" pitchFamily="34" charset="0"/>
                <a:cs typeface="Calibri" panose="020F0502020204030204" pitchFamily="34" charset="0"/>
              </a:endParaRPr>
            </a:p>
            <a:p>
              <a:endParaRPr lang="en-GB" sz="2460">
                <a:latin typeface="Calibri" panose="020F0502020204030204" pitchFamily="34" charset="0"/>
                <a:ea typeface="Calibri" panose="020F0502020204030204" pitchFamily="34" charset="0"/>
                <a:cs typeface="Calibri" panose="020F0502020204030204" pitchFamily="34" charset="0"/>
              </a:endParaRPr>
            </a:p>
          </p:txBody>
        </p:sp>
        <p:grpSp>
          <p:nvGrpSpPr>
            <p:cNvPr id="50" name="Group 49">
              <a:extLst>
                <a:ext uri="{FF2B5EF4-FFF2-40B4-BE49-F238E27FC236}">
                  <a16:creationId xmlns:a16="http://schemas.microsoft.com/office/drawing/2014/main" id="{451282BC-C985-B62B-123D-89119BEA6101}"/>
                </a:ext>
              </a:extLst>
            </p:cNvPr>
            <p:cNvGrpSpPr/>
            <p:nvPr/>
          </p:nvGrpSpPr>
          <p:grpSpPr>
            <a:xfrm>
              <a:off x="21909099" y="19695052"/>
              <a:ext cx="21440716" cy="690510"/>
              <a:chOff x="0" y="83061"/>
              <a:chExt cx="1394894" cy="242154"/>
            </a:xfrm>
            <a:solidFill>
              <a:schemeClr val="accent6">
                <a:lumMod val="20000"/>
                <a:lumOff val="80000"/>
              </a:schemeClr>
            </a:solidFill>
          </p:grpSpPr>
          <p:sp>
            <p:nvSpPr>
              <p:cNvPr id="51" name="Rectangle: Rounded Corners 50">
                <a:extLst>
                  <a:ext uri="{FF2B5EF4-FFF2-40B4-BE49-F238E27FC236}">
                    <a16:creationId xmlns:a16="http://schemas.microsoft.com/office/drawing/2014/main" id="{3502ED0D-FBCF-D649-D4E3-D39532086B4A}"/>
                  </a:ext>
                </a:extLst>
              </p:cNvPr>
              <p:cNvSpPr/>
              <p:nvPr/>
            </p:nvSpPr>
            <p:spPr>
              <a:xfrm>
                <a:off x="0" y="83061"/>
                <a:ext cx="1394894" cy="242154"/>
              </a:xfrm>
              <a:prstGeom prst="roundRect">
                <a:avLst/>
              </a:prstGeom>
              <a:solidFill>
                <a:schemeClr val="bg2">
                  <a:lumMod val="50000"/>
                </a:schemeClr>
              </a:solidFill>
              <a:ln>
                <a:solidFill>
                  <a:schemeClr val="tx1">
                    <a:lumMod val="75000"/>
                    <a:lumOff val="2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sz="3079">
                  <a:solidFill>
                    <a:schemeClr val="accent6">
                      <a:lumMod val="50000"/>
                    </a:schemeClr>
                  </a:solidFill>
                </a:endParaRPr>
              </a:p>
            </p:txBody>
          </p:sp>
          <p:sp>
            <p:nvSpPr>
              <p:cNvPr id="52" name="Rectangle: Rounded Corners 4">
                <a:extLst>
                  <a:ext uri="{FF2B5EF4-FFF2-40B4-BE49-F238E27FC236}">
                    <a16:creationId xmlns:a16="http://schemas.microsoft.com/office/drawing/2014/main" id="{87D41A6A-8163-2CDD-01D5-37E8FB6C031A}"/>
                  </a:ext>
                </a:extLst>
              </p:cNvPr>
              <p:cNvSpPr txBox="1"/>
              <p:nvPr/>
            </p:nvSpPr>
            <p:spPr>
              <a:xfrm>
                <a:off x="5840" y="83061"/>
                <a:ext cx="1382853" cy="209049"/>
              </a:xfrm>
              <a:prstGeom prst="rect">
                <a:avLst/>
              </a:prstGeom>
              <a:solidFill>
                <a:schemeClr val="bg2">
                  <a:lumMod val="50000"/>
                </a:schemeClr>
              </a:solidFill>
            </p:spPr>
            <p:style>
              <a:lnRef idx="0">
                <a:scrgbClr r="0" g="0" b="0"/>
              </a:lnRef>
              <a:fillRef idx="0">
                <a:scrgbClr r="0" g="0" b="0"/>
              </a:fillRef>
              <a:effectRef idx="0">
                <a:scrgbClr r="0" g="0" b="0"/>
              </a:effectRef>
              <a:fontRef idx="minor">
                <a:schemeClr val="lt1"/>
              </a:fontRef>
            </p:style>
            <p:txBody>
              <a:bodyPr spcFirstLastPara="0" vert="horz" wrap="square" lIns="57741" tIns="57741" rIns="57741" bIns="57741" numCol="1" spcCol="1270" anchor="ctr" anchorCtr="0">
                <a:noAutofit/>
              </a:bodyPr>
              <a:lstStyle/>
              <a:p>
                <a:pPr defTabSz="673691">
                  <a:lnSpc>
                    <a:spcPct val="90000"/>
                  </a:lnSpc>
                  <a:spcBef>
                    <a:spcPct val="0"/>
                  </a:spcBef>
                  <a:spcAft>
                    <a:spcPct val="35000"/>
                  </a:spcAft>
                </a:pPr>
                <a:r>
                  <a:rPr lang="en-GB" sz="3000" b="1">
                    <a:solidFill>
                      <a:schemeClr val="bg1"/>
                    </a:solidFill>
                    <a:latin typeface="Georgia" panose="02040502050405020303" pitchFamily="18" charset="0"/>
                    <a:cs typeface="Helvetica" panose="020B0604020202020204" pitchFamily="34" charset="0"/>
                  </a:rPr>
                  <a:t>10 – Feature Importance – core ML result</a:t>
                </a:r>
              </a:p>
            </p:txBody>
          </p:sp>
        </p:grpSp>
        <p:pic>
          <p:nvPicPr>
            <p:cNvPr id="24" name="Picture 23">
              <a:extLst>
                <a:ext uri="{FF2B5EF4-FFF2-40B4-BE49-F238E27FC236}">
                  <a16:creationId xmlns:a16="http://schemas.microsoft.com/office/drawing/2014/main" id="{5A7F0EFF-F1F6-2617-9609-FCC1E9068C3E}"/>
                </a:ext>
              </a:extLst>
            </p:cNvPr>
            <p:cNvPicPr>
              <a:picLocks noChangeAspect="1"/>
            </p:cNvPicPr>
            <p:nvPr/>
          </p:nvPicPr>
          <p:blipFill>
            <a:blip r:embed="rId7"/>
            <a:stretch>
              <a:fillRect/>
            </a:stretch>
          </p:blipFill>
          <p:spPr>
            <a:xfrm>
              <a:off x="32370155" y="22030464"/>
              <a:ext cx="9734725" cy="4375708"/>
            </a:xfrm>
            <a:prstGeom prst="rect">
              <a:avLst/>
            </a:prstGeom>
          </p:spPr>
        </p:pic>
        <p:pic>
          <p:nvPicPr>
            <p:cNvPr id="20" name="Picture 19">
              <a:extLst>
                <a:ext uri="{FF2B5EF4-FFF2-40B4-BE49-F238E27FC236}">
                  <a16:creationId xmlns:a16="http://schemas.microsoft.com/office/drawing/2014/main" id="{690FE194-F4FD-FC22-4317-9EB750657949}"/>
                </a:ext>
              </a:extLst>
            </p:cNvPr>
            <p:cNvPicPr>
              <a:picLocks noChangeAspect="1"/>
            </p:cNvPicPr>
            <p:nvPr/>
          </p:nvPicPr>
          <p:blipFill>
            <a:blip r:embed="rId8"/>
            <a:stretch>
              <a:fillRect/>
            </a:stretch>
          </p:blipFill>
          <p:spPr>
            <a:xfrm>
              <a:off x="22742183" y="22030464"/>
              <a:ext cx="8480532" cy="4365523"/>
            </a:xfrm>
            <a:prstGeom prst="rect">
              <a:avLst/>
            </a:prstGeom>
          </p:spPr>
        </p:pic>
      </p:grpSp>
      <p:grpSp>
        <p:nvGrpSpPr>
          <p:cNvPr id="182" name="Group 181">
            <a:extLst>
              <a:ext uri="{FF2B5EF4-FFF2-40B4-BE49-F238E27FC236}">
                <a16:creationId xmlns:a16="http://schemas.microsoft.com/office/drawing/2014/main" id="{4513E838-CCE2-6824-7E2C-0CE9B50F1216}"/>
              </a:ext>
            </a:extLst>
          </p:cNvPr>
          <p:cNvGrpSpPr/>
          <p:nvPr/>
        </p:nvGrpSpPr>
        <p:grpSpPr>
          <a:xfrm>
            <a:off x="375102" y="11991789"/>
            <a:ext cx="10558292" cy="14890931"/>
            <a:chOff x="532599" y="13182637"/>
            <a:chExt cx="10019021" cy="13251917"/>
          </a:xfrm>
        </p:grpSpPr>
        <p:sp>
          <p:nvSpPr>
            <p:cNvPr id="11" name="TextBox 10">
              <a:extLst>
                <a:ext uri="{FF2B5EF4-FFF2-40B4-BE49-F238E27FC236}">
                  <a16:creationId xmlns:a16="http://schemas.microsoft.com/office/drawing/2014/main" id="{814B941C-ABD2-D2F3-8136-1F97A4C8B833}"/>
                </a:ext>
              </a:extLst>
            </p:cNvPr>
            <p:cNvSpPr txBox="1"/>
            <p:nvPr/>
          </p:nvSpPr>
          <p:spPr>
            <a:xfrm>
              <a:off x="532599" y="13796358"/>
              <a:ext cx="9240894" cy="12638196"/>
            </a:xfrm>
            <a:prstGeom prst="rect">
              <a:avLst/>
            </a:prstGeom>
            <a:solidFill>
              <a:schemeClr val="bg1">
                <a:lumMod val="95000"/>
              </a:schemeClr>
            </a:solidFill>
            <a:ln>
              <a:solidFill>
                <a:schemeClr val="tx1">
                  <a:lumMod val="50000"/>
                  <a:lumOff val="50000"/>
                </a:schemeClr>
              </a:solidFill>
            </a:ln>
          </p:spPr>
          <p:txBody>
            <a:bodyPr rot="0" spcFirstLastPara="0" vertOverflow="overflow" horzOverflow="overflow" vert="horz" wrap="square" lIns="115481" tIns="57741" rIns="115481" bIns="57741" numCol="1" spcCol="0" rtlCol="0" fromWordArt="0" anchor="t" anchorCtr="0" forceAA="0" compatLnSpc="1">
              <a:prstTxWarp prst="textNoShape">
                <a:avLst/>
              </a:prstTxWarp>
              <a:spAutoFit/>
            </a:bodyPr>
            <a:lstStyle/>
            <a:p>
              <a:pPr algn="ctr"/>
              <a:r>
                <a:rPr lang="en-US" sz="2800">
                  <a:latin typeface="Calibri" panose="020F0502020204030204" pitchFamily="34" charset="0"/>
                  <a:ea typeface="Calibri" panose="020F0502020204030204" pitchFamily="34" charset="0"/>
                  <a:cs typeface="Calibri" panose="020F0502020204030204" pitchFamily="34" charset="0"/>
                </a:rPr>
                <a:t>Geographical concentration of climate finance </a:t>
              </a:r>
              <a:endParaRPr lang="en-US" sz="3079">
                <a:latin typeface="Calibri" panose="020F0502020204030204" pitchFamily="34" charset="0"/>
                <a:ea typeface="Calibri" panose="020F0502020204030204" pitchFamily="34" charset="0"/>
                <a:cs typeface="Calibri" panose="020F0502020204030204" pitchFamily="34" charset="0"/>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a:p>
              <a:endParaRPr lang="en-US" sz="3079">
                <a:latin typeface="Garamond"/>
              </a:endParaRPr>
            </a:p>
          </p:txBody>
        </p:sp>
        <p:graphicFrame>
          <p:nvGraphicFramePr>
            <p:cNvPr id="25" name="Diagram 24">
              <a:extLst>
                <a:ext uri="{FF2B5EF4-FFF2-40B4-BE49-F238E27FC236}">
                  <a16:creationId xmlns:a16="http://schemas.microsoft.com/office/drawing/2014/main" id="{573DD699-368F-591E-2513-135FD88D87D7}"/>
                </a:ext>
              </a:extLst>
            </p:cNvPr>
            <p:cNvGraphicFramePr/>
            <p:nvPr>
              <p:extLst>
                <p:ext uri="{D42A27DB-BD31-4B8C-83A1-F6EECF244321}">
                  <p14:modId xmlns:p14="http://schemas.microsoft.com/office/powerpoint/2010/main" val="2777293849"/>
                </p:ext>
              </p:extLst>
            </p:nvPr>
          </p:nvGraphicFramePr>
          <p:xfrm>
            <a:off x="532599" y="13182637"/>
            <a:ext cx="9240894" cy="64292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17" name="Picture 116">
              <a:extLst>
                <a:ext uri="{FF2B5EF4-FFF2-40B4-BE49-F238E27FC236}">
                  <a16:creationId xmlns:a16="http://schemas.microsoft.com/office/drawing/2014/main" id="{F2280057-3201-1E3A-DC10-47B7D2357225}"/>
                </a:ext>
              </a:extLst>
            </p:cNvPr>
            <p:cNvPicPr>
              <a:picLocks noChangeAspect="1"/>
            </p:cNvPicPr>
            <p:nvPr/>
          </p:nvPicPr>
          <p:blipFill>
            <a:blip r:embed="rId14"/>
            <a:stretch>
              <a:fillRect/>
            </a:stretch>
          </p:blipFill>
          <p:spPr>
            <a:xfrm>
              <a:off x="1703700" y="18520065"/>
              <a:ext cx="6771456" cy="3247051"/>
            </a:xfrm>
            <a:prstGeom prst="rect">
              <a:avLst/>
            </a:prstGeom>
          </p:spPr>
        </p:pic>
        <p:pic>
          <p:nvPicPr>
            <p:cNvPr id="112" name="Picture 111">
              <a:extLst>
                <a:ext uri="{FF2B5EF4-FFF2-40B4-BE49-F238E27FC236}">
                  <a16:creationId xmlns:a16="http://schemas.microsoft.com/office/drawing/2014/main" id="{AEFEE1C4-E474-9CD6-7899-1921FD4BBE4D}"/>
                </a:ext>
              </a:extLst>
            </p:cNvPr>
            <p:cNvPicPr>
              <a:picLocks noChangeAspect="1"/>
            </p:cNvPicPr>
            <p:nvPr/>
          </p:nvPicPr>
          <p:blipFill>
            <a:blip r:embed="rId15"/>
            <a:stretch>
              <a:fillRect/>
            </a:stretch>
          </p:blipFill>
          <p:spPr>
            <a:xfrm>
              <a:off x="1759893" y="14372653"/>
              <a:ext cx="6771455" cy="3386263"/>
            </a:xfrm>
            <a:prstGeom prst="rect">
              <a:avLst/>
            </a:prstGeom>
          </p:spPr>
        </p:pic>
        <p:pic>
          <p:nvPicPr>
            <p:cNvPr id="17" name="Picture 16">
              <a:extLst>
                <a:ext uri="{FF2B5EF4-FFF2-40B4-BE49-F238E27FC236}">
                  <a16:creationId xmlns:a16="http://schemas.microsoft.com/office/drawing/2014/main" id="{F853176D-DD4A-DA33-9A96-2F9E25463F19}"/>
                </a:ext>
              </a:extLst>
            </p:cNvPr>
            <p:cNvPicPr>
              <a:picLocks noChangeAspect="1"/>
            </p:cNvPicPr>
            <p:nvPr/>
          </p:nvPicPr>
          <p:blipFill>
            <a:blip r:embed="rId16"/>
            <a:stretch>
              <a:fillRect/>
            </a:stretch>
          </p:blipFill>
          <p:spPr>
            <a:xfrm>
              <a:off x="1703700" y="22419605"/>
              <a:ext cx="6750944" cy="3375331"/>
            </a:xfrm>
            <a:prstGeom prst="rect">
              <a:avLst/>
            </a:prstGeom>
          </p:spPr>
        </p:pic>
        <p:sp>
          <p:nvSpPr>
            <p:cNvPr id="128" name="TextBox 127">
              <a:extLst>
                <a:ext uri="{FF2B5EF4-FFF2-40B4-BE49-F238E27FC236}">
                  <a16:creationId xmlns:a16="http://schemas.microsoft.com/office/drawing/2014/main" id="{28E6F692-F631-270C-7ECF-5B6DE4450197}"/>
                </a:ext>
              </a:extLst>
            </p:cNvPr>
            <p:cNvSpPr txBox="1"/>
            <p:nvPr/>
          </p:nvSpPr>
          <p:spPr>
            <a:xfrm>
              <a:off x="1749745" y="17777287"/>
              <a:ext cx="8451065" cy="739531"/>
            </a:xfrm>
            <a:prstGeom prst="rect">
              <a:avLst/>
            </a:prstGeom>
            <a:noFill/>
          </p:spPr>
          <p:txBody>
            <a:bodyPr wrap="square" rtlCol="0">
              <a:spAutoFit/>
            </a:bodyPr>
            <a:lstStyle/>
            <a:p>
              <a:r>
                <a:rPr lang="en-GB" sz="2400">
                  <a:latin typeface="Calibri" panose="020F0502020204030204" pitchFamily="34" charset="0"/>
                  <a:ea typeface="Calibri" panose="020F0502020204030204" pitchFamily="34" charset="0"/>
                  <a:cs typeface="Calibri" panose="020F0502020204030204" pitchFamily="34" charset="0"/>
                </a:rPr>
                <a:t>Climate finance is concentrated in South Asia, Europe, and South America.</a:t>
              </a:r>
            </a:p>
          </p:txBody>
        </p:sp>
        <p:sp>
          <p:nvSpPr>
            <p:cNvPr id="129" name="TextBox 128">
              <a:extLst>
                <a:ext uri="{FF2B5EF4-FFF2-40B4-BE49-F238E27FC236}">
                  <a16:creationId xmlns:a16="http://schemas.microsoft.com/office/drawing/2014/main" id="{72DE5C40-650E-8F13-D183-396D4D01C510}"/>
                </a:ext>
              </a:extLst>
            </p:cNvPr>
            <p:cNvSpPr txBox="1"/>
            <p:nvPr/>
          </p:nvSpPr>
          <p:spPr>
            <a:xfrm>
              <a:off x="1581749" y="21880128"/>
              <a:ext cx="8209086" cy="410850"/>
            </a:xfrm>
            <a:prstGeom prst="rect">
              <a:avLst/>
            </a:prstGeom>
            <a:noFill/>
          </p:spPr>
          <p:txBody>
            <a:bodyPr wrap="square" rtlCol="0">
              <a:spAutoFit/>
            </a:bodyPr>
            <a:lstStyle/>
            <a:p>
              <a:r>
                <a:rPr lang="en-GB" sz="2400">
                  <a:latin typeface="Calibri" panose="020F0502020204030204" pitchFamily="34" charset="0"/>
                  <a:ea typeface="Calibri" panose="020F0502020204030204" pitchFamily="34" charset="0"/>
                  <a:cs typeface="Calibri" panose="020F0502020204030204" pitchFamily="34" charset="0"/>
                </a:rPr>
                <a:t>Population adjustment reveals higher relative allocations to Africa.</a:t>
              </a:r>
            </a:p>
          </p:txBody>
        </p:sp>
        <p:sp>
          <p:nvSpPr>
            <p:cNvPr id="130" name="TextBox 129">
              <a:extLst>
                <a:ext uri="{FF2B5EF4-FFF2-40B4-BE49-F238E27FC236}">
                  <a16:creationId xmlns:a16="http://schemas.microsoft.com/office/drawing/2014/main" id="{750CB588-0F1C-0724-2CD4-B16CBD8419AC}"/>
                </a:ext>
              </a:extLst>
            </p:cNvPr>
            <p:cNvSpPr txBox="1"/>
            <p:nvPr/>
          </p:nvSpPr>
          <p:spPr>
            <a:xfrm>
              <a:off x="1614593" y="25840922"/>
              <a:ext cx="8937027" cy="410850"/>
            </a:xfrm>
            <a:prstGeom prst="rect">
              <a:avLst/>
            </a:prstGeom>
            <a:noFill/>
          </p:spPr>
          <p:txBody>
            <a:bodyPr wrap="square" rtlCol="0">
              <a:spAutoFit/>
            </a:bodyPr>
            <a:lstStyle/>
            <a:p>
              <a:r>
                <a:rPr lang="en-GB" sz="2400">
                  <a:latin typeface="Calibri" panose="020F0502020204030204" pitchFamily="34" charset="0"/>
                  <a:ea typeface="Calibri" panose="020F0502020204030204" pitchFamily="34" charset="0"/>
                  <a:cs typeface="Calibri" panose="020F0502020204030204" pitchFamily="34" charset="0"/>
                </a:rPr>
                <a:t>Perceived equity depends strongly on the metric used.</a:t>
              </a:r>
            </a:p>
          </p:txBody>
        </p:sp>
      </p:grpSp>
      <p:sp>
        <p:nvSpPr>
          <p:cNvPr id="132" name="Oval 131">
            <a:extLst>
              <a:ext uri="{FF2B5EF4-FFF2-40B4-BE49-F238E27FC236}">
                <a16:creationId xmlns:a16="http://schemas.microsoft.com/office/drawing/2014/main" id="{8AC18849-EF1A-496A-B83D-2FC50E8A89DD}"/>
              </a:ext>
              <a:ext uri="{C183D7F6-B498-43B3-948B-1728B52AA6E4}">
                <adec:decorative xmlns:adec="http://schemas.microsoft.com/office/drawing/2017/decorative" val="1"/>
              </a:ext>
            </a:extLst>
          </p:cNvPr>
          <p:cNvSpPr/>
          <p:nvPr/>
        </p:nvSpPr>
        <p:spPr>
          <a:xfrm>
            <a:off x="15135463" y="15400496"/>
            <a:ext cx="342776" cy="300435"/>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913">
              <a:noFill/>
            </a:endParaRPr>
          </a:p>
        </p:txBody>
      </p:sp>
      <p:cxnSp>
        <p:nvCxnSpPr>
          <p:cNvPr id="137" name="Straight Connector 136">
            <a:extLst>
              <a:ext uri="{FF2B5EF4-FFF2-40B4-BE49-F238E27FC236}">
                <a16:creationId xmlns:a16="http://schemas.microsoft.com/office/drawing/2014/main" id="{F17AE170-0783-CDEC-76E3-B91F146522B3}"/>
              </a:ext>
              <a:ext uri="{C183D7F6-B498-43B3-948B-1728B52AA6E4}">
                <adec:decorative xmlns:adec="http://schemas.microsoft.com/office/drawing/2017/decorative" val="1"/>
              </a:ext>
            </a:extLst>
          </p:cNvPr>
          <p:cNvCxnSpPr>
            <a:cxnSpLocks/>
            <a:stCxn id="132" idx="3"/>
          </p:cNvCxnSpPr>
          <p:nvPr/>
        </p:nvCxnSpPr>
        <p:spPr>
          <a:xfrm flipH="1">
            <a:off x="13581795" y="15656936"/>
            <a:ext cx="1603867" cy="585776"/>
          </a:xfrm>
          <a:prstGeom prst="line">
            <a:avLst/>
          </a:prstGeom>
        </p:spPr>
        <p:style>
          <a:lnRef idx="2">
            <a:schemeClr val="dk1"/>
          </a:lnRef>
          <a:fillRef idx="0">
            <a:schemeClr val="dk1"/>
          </a:fillRef>
          <a:effectRef idx="1">
            <a:schemeClr val="dk1"/>
          </a:effectRef>
          <a:fontRef idx="minor">
            <a:schemeClr val="tx1"/>
          </a:fontRef>
        </p:style>
      </p:cxnSp>
      <p:pic>
        <p:nvPicPr>
          <p:cNvPr id="139" name="Picture 138">
            <a:extLst>
              <a:ext uri="{FF2B5EF4-FFF2-40B4-BE49-F238E27FC236}">
                <a16:creationId xmlns:a16="http://schemas.microsoft.com/office/drawing/2014/main" id="{E7386A04-F6FE-D889-7CFF-D8E3DF59967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1184444" y="16054895"/>
            <a:ext cx="2295393" cy="1227309"/>
          </a:xfrm>
          <a:prstGeom prst="rect">
            <a:avLst/>
          </a:prstGeom>
          <a:ln w="12700">
            <a:solidFill>
              <a:schemeClr val="tx1"/>
            </a:solidFill>
          </a:ln>
        </p:spPr>
      </p:pic>
      <p:sp>
        <p:nvSpPr>
          <p:cNvPr id="141" name="Oval 140">
            <a:extLst>
              <a:ext uri="{FF2B5EF4-FFF2-40B4-BE49-F238E27FC236}">
                <a16:creationId xmlns:a16="http://schemas.microsoft.com/office/drawing/2014/main" id="{658A7B4E-5BD8-0B46-3387-3766502375D7}"/>
              </a:ext>
              <a:ext uri="{C183D7F6-B498-43B3-948B-1728B52AA6E4}">
                <adec:decorative xmlns:adec="http://schemas.microsoft.com/office/drawing/2017/decorative" val="1"/>
              </a:ext>
            </a:extLst>
          </p:cNvPr>
          <p:cNvSpPr/>
          <p:nvPr/>
        </p:nvSpPr>
        <p:spPr>
          <a:xfrm>
            <a:off x="16196416" y="15026030"/>
            <a:ext cx="301247" cy="293085"/>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913">
              <a:noFill/>
            </a:endParaRPr>
          </a:p>
        </p:txBody>
      </p:sp>
      <p:sp>
        <p:nvSpPr>
          <p:cNvPr id="143" name="TextBox 142">
            <a:extLst>
              <a:ext uri="{FF2B5EF4-FFF2-40B4-BE49-F238E27FC236}">
                <a16:creationId xmlns:a16="http://schemas.microsoft.com/office/drawing/2014/main" id="{628F348D-CE29-723E-1ADD-B81BB286E107}"/>
              </a:ext>
            </a:extLst>
          </p:cNvPr>
          <p:cNvSpPr txBox="1"/>
          <p:nvPr/>
        </p:nvSpPr>
        <p:spPr>
          <a:xfrm>
            <a:off x="11119010" y="17280006"/>
            <a:ext cx="3142865" cy="315539"/>
          </a:xfrm>
          <a:prstGeom prst="rect">
            <a:avLst/>
          </a:prstGeom>
          <a:noFill/>
        </p:spPr>
        <p:txBody>
          <a:bodyPr wrap="square" rtlCol="0">
            <a:spAutoFit/>
          </a:bodyPr>
          <a:lstStyle/>
          <a:p>
            <a:r>
              <a:rPr lang="en-GB" sz="1435">
                <a:latin typeface="Calibri" panose="020F0502020204030204" pitchFamily="34" charset="0"/>
                <a:ea typeface="Calibri" panose="020F0502020204030204" pitchFamily="34" charset="0"/>
                <a:cs typeface="Calibri" panose="020F0502020204030204" pitchFamily="34" charset="0"/>
              </a:rPr>
              <a:t>Fig1: Afro Barometer, 2018</a:t>
            </a:r>
          </a:p>
        </p:txBody>
      </p:sp>
      <p:cxnSp>
        <p:nvCxnSpPr>
          <p:cNvPr id="145" name="Straight Connector 144">
            <a:extLst>
              <a:ext uri="{FF2B5EF4-FFF2-40B4-BE49-F238E27FC236}">
                <a16:creationId xmlns:a16="http://schemas.microsoft.com/office/drawing/2014/main" id="{A1B94FD9-DB68-34F1-FBA4-EF3D096D30C0}"/>
              </a:ext>
              <a:ext uri="{C183D7F6-B498-43B3-948B-1728B52AA6E4}">
                <adec:decorative xmlns:adec="http://schemas.microsoft.com/office/drawing/2017/decorative" val="1"/>
              </a:ext>
            </a:extLst>
          </p:cNvPr>
          <p:cNvCxnSpPr>
            <a:cxnSpLocks/>
            <a:stCxn id="141" idx="3"/>
            <a:endCxn id="147" idx="0"/>
          </p:cNvCxnSpPr>
          <p:nvPr/>
        </p:nvCxnSpPr>
        <p:spPr>
          <a:xfrm flipH="1">
            <a:off x="14928257" y="15276194"/>
            <a:ext cx="1312276" cy="2027135"/>
          </a:xfrm>
          <a:prstGeom prst="line">
            <a:avLst/>
          </a:prstGeom>
        </p:spPr>
        <p:style>
          <a:lnRef idx="2">
            <a:schemeClr val="dk1"/>
          </a:lnRef>
          <a:fillRef idx="0">
            <a:schemeClr val="dk1"/>
          </a:fillRef>
          <a:effectRef idx="1">
            <a:schemeClr val="dk1"/>
          </a:effectRef>
          <a:fontRef idx="minor">
            <a:schemeClr val="tx1"/>
          </a:fontRef>
        </p:style>
      </p:cxnSp>
      <p:pic>
        <p:nvPicPr>
          <p:cNvPr id="147" name="Picture 146">
            <a:extLst>
              <a:ext uri="{FF2B5EF4-FFF2-40B4-BE49-F238E27FC236}">
                <a16:creationId xmlns:a16="http://schemas.microsoft.com/office/drawing/2014/main" id="{4578F5FC-A47B-AEE9-D97D-3B97DFFE91B8}"/>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3894196" y="17303329"/>
            <a:ext cx="2068122" cy="1034061"/>
          </a:xfrm>
          <a:prstGeom prst="rect">
            <a:avLst/>
          </a:prstGeom>
          <a:ln w="12700">
            <a:solidFill>
              <a:schemeClr val="tx1"/>
            </a:solidFill>
          </a:ln>
        </p:spPr>
      </p:pic>
      <p:sp>
        <p:nvSpPr>
          <p:cNvPr id="150" name="TextBox 149">
            <a:extLst>
              <a:ext uri="{FF2B5EF4-FFF2-40B4-BE49-F238E27FC236}">
                <a16:creationId xmlns:a16="http://schemas.microsoft.com/office/drawing/2014/main" id="{3567299C-C83A-0232-2F35-671D4526A281}"/>
              </a:ext>
            </a:extLst>
          </p:cNvPr>
          <p:cNvSpPr txBox="1"/>
          <p:nvPr/>
        </p:nvSpPr>
        <p:spPr>
          <a:xfrm>
            <a:off x="13752679" y="18328382"/>
            <a:ext cx="3142865" cy="315539"/>
          </a:xfrm>
          <a:prstGeom prst="rect">
            <a:avLst/>
          </a:prstGeom>
          <a:noFill/>
        </p:spPr>
        <p:txBody>
          <a:bodyPr wrap="square" rtlCol="0">
            <a:spAutoFit/>
          </a:bodyPr>
          <a:lstStyle/>
          <a:p>
            <a:r>
              <a:rPr lang="en-GB" sz="1435">
                <a:latin typeface="Calibri" panose="020F0502020204030204" pitchFamily="34" charset="0"/>
                <a:ea typeface="Calibri" panose="020F0502020204030204" pitchFamily="34" charset="0"/>
                <a:cs typeface="Calibri" panose="020F0502020204030204" pitchFamily="34" charset="0"/>
              </a:rPr>
              <a:t>Fig2: OCHA, 2023</a:t>
            </a:r>
          </a:p>
        </p:txBody>
      </p:sp>
      <p:sp>
        <p:nvSpPr>
          <p:cNvPr id="151" name="Oval 150">
            <a:extLst>
              <a:ext uri="{FF2B5EF4-FFF2-40B4-BE49-F238E27FC236}">
                <a16:creationId xmlns:a16="http://schemas.microsoft.com/office/drawing/2014/main" id="{DF6E2F09-3DE8-A23E-224E-F15D6F8A9076}"/>
              </a:ext>
              <a:ext uri="{C183D7F6-B498-43B3-948B-1728B52AA6E4}">
                <adec:decorative xmlns:adec="http://schemas.microsoft.com/office/drawing/2017/decorative" val="1"/>
              </a:ext>
            </a:extLst>
          </p:cNvPr>
          <p:cNvSpPr/>
          <p:nvPr/>
        </p:nvSpPr>
        <p:spPr>
          <a:xfrm>
            <a:off x="17325681" y="15265206"/>
            <a:ext cx="301247" cy="293085"/>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913">
              <a:noFill/>
            </a:endParaRPr>
          </a:p>
        </p:txBody>
      </p:sp>
      <p:cxnSp>
        <p:nvCxnSpPr>
          <p:cNvPr id="153" name="Straight Connector 152">
            <a:extLst>
              <a:ext uri="{FF2B5EF4-FFF2-40B4-BE49-F238E27FC236}">
                <a16:creationId xmlns:a16="http://schemas.microsoft.com/office/drawing/2014/main" id="{8B1BE93B-78F0-EAA3-936E-B951F44D3E62}"/>
              </a:ext>
              <a:ext uri="{C183D7F6-B498-43B3-948B-1728B52AA6E4}">
                <adec:decorative xmlns:adec="http://schemas.microsoft.com/office/drawing/2017/decorative" val="1"/>
              </a:ext>
            </a:extLst>
          </p:cNvPr>
          <p:cNvCxnSpPr>
            <a:cxnSpLocks/>
            <a:stCxn id="151" idx="4"/>
            <a:endCxn id="156" idx="0"/>
          </p:cNvCxnSpPr>
          <p:nvPr/>
        </p:nvCxnSpPr>
        <p:spPr>
          <a:xfrm>
            <a:off x="17476305" y="15558291"/>
            <a:ext cx="543247" cy="1582180"/>
          </a:xfrm>
          <a:prstGeom prst="line">
            <a:avLst/>
          </a:prstGeom>
        </p:spPr>
        <p:style>
          <a:lnRef idx="2">
            <a:schemeClr val="dk1"/>
          </a:lnRef>
          <a:fillRef idx="0">
            <a:schemeClr val="dk1"/>
          </a:fillRef>
          <a:effectRef idx="1">
            <a:schemeClr val="dk1"/>
          </a:effectRef>
          <a:fontRef idx="minor">
            <a:schemeClr val="tx1"/>
          </a:fontRef>
        </p:style>
      </p:cxnSp>
      <p:pic>
        <p:nvPicPr>
          <p:cNvPr id="156" name="Picture 155">
            <a:extLst>
              <a:ext uri="{FF2B5EF4-FFF2-40B4-BE49-F238E27FC236}">
                <a16:creationId xmlns:a16="http://schemas.microsoft.com/office/drawing/2014/main" id="{928AF545-5210-E257-CB04-01D383D495D7}"/>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6899247" y="17140471"/>
            <a:ext cx="2240610" cy="1279339"/>
          </a:xfrm>
          <a:prstGeom prst="rect">
            <a:avLst/>
          </a:prstGeom>
          <a:ln w="12700">
            <a:solidFill>
              <a:schemeClr val="tx1"/>
            </a:solidFill>
          </a:ln>
        </p:spPr>
      </p:pic>
      <p:sp>
        <p:nvSpPr>
          <p:cNvPr id="162" name="TextBox 161">
            <a:extLst>
              <a:ext uri="{FF2B5EF4-FFF2-40B4-BE49-F238E27FC236}">
                <a16:creationId xmlns:a16="http://schemas.microsoft.com/office/drawing/2014/main" id="{F436BD50-771A-5874-C7EF-6A254109DA8B}"/>
              </a:ext>
            </a:extLst>
          </p:cNvPr>
          <p:cNvSpPr txBox="1"/>
          <p:nvPr/>
        </p:nvSpPr>
        <p:spPr>
          <a:xfrm>
            <a:off x="16823194" y="18425363"/>
            <a:ext cx="3142865" cy="315539"/>
          </a:xfrm>
          <a:prstGeom prst="rect">
            <a:avLst/>
          </a:prstGeom>
          <a:noFill/>
        </p:spPr>
        <p:txBody>
          <a:bodyPr wrap="square" rtlCol="0">
            <a:spAutoFit/>
          </a:bodyPr>
          <a:lstStyle/>
          <a:p>
            <a:r>
              <a:rPr lang="en-GB" sz="1435">
                <a:latin typeface="Calibri" panose="020F0502020204030204" pitchFamily="34" charset="0"/>
                <a:ea typeface="Calibri" panose="020F0502020204030204" pitchFamily="34" charset="0"/>
                <a:cs typeface="Calibri" panose="020F0502020204030204" pitchFamily="34" charset="0"/>
              </a:rPr>
              <a:t>Fig3: The Guardian, 2024</a:t>
            </a:r>
          </a:p>
        </p:txBody>
      </p:sp>
      <p:sp>
        <p:nvSpPr>
          <p:cNvPr id="163" name="TextBox 162">
            <a:extLst>
              <a:ext uri="{FF2B5EF4-FFF2-40B4-BE49-F238E27FC236}">
                <a16:creationId xmlns:a16="http://schemas.microsoft.com/office/drawing/2014/main" id="{419AD608-E62B-F977-D05B-21A99F0C94A1}"/>
              </a:ext>
            </a:extLst>
          </p:cNvPr>
          <p:cNvSpPr txBox="1"/>
          <p:nvPr/>
        </p:nvSpPr>
        <p:spPr>
          <a:xfrm>
            <a:off x="10814787" y="18747369"/>
            <a:ext cx="10646648" cy="954107"/>
          </a:xfrm>
          <a:prstGeom prst="rect">
            <a:avLst/>
          </a:prstGeom>
          <a:noFill/>
        </p:spPr>
        <p:txBody>
          <a:bodyPr wrap="square" rtlCol="0">
            <a:spAutoFit/>
          </a:bodyPr>
          <a:lstStyle/>
          <a:p>
            <a:r>
              <a:rPr lang="en-GB" sz="2800" b="1">
                <a:latin typeface="Calibri" panose="020F0502020204030204" pitchFamily="34" charset="0"/>
                <a:ea typeface="Calibri" panose="020F0502020204030204" pitchFamily="34" charset="0"/>
                <a:cs typeface="Calibri" panose="020F0502020204030204" pitchFamily="34" charset="0"/>
              </a:rPr>
              <a:t>Sub-Saharan Africa, South Asia, </a:t>
            </a:r>
            <a:r>
              <a:rPr lang="en-GB" sz="2800">
                <a:latin typeface="Calibri" panose="020F0502020204030204" pitchFamily="34" charset="0"/>
                <a:ea typeface="Calibri" panose="020F0502020204030204" pitchFamily="34" charset="0"/>
                <a:cs typeface="Calibri" panose="020F0502020204030204" pitchFamily="34" charset="0"/>
              </a:rPr>
              <a:t>and</a:t>
            </a:r>
            <a:r>
              <a:rPr lang="en-GB" sz="2800" b="1">
                <a:latin typeface="Calibri" panose="020F0502020204030204" pitchFamily="34" charset="0"/>
                <a:ea typeface="Calibri" panose="020F0502020204030204" pitchFamily="34" charset="0"/>
                <a:cs typeface="Calibri" panose="020F0502020204030204" pitchFamily="34" charset="0"/>
              </a:rPr>
              <a:t> small island developing states </a:t>
            </a:r>
            <a:r>
              <a:rPr lang="en-GB" sz="2800">
                <a:latin typeface="Calibri" panose="020F0502020204030204" pitchFamily="34" charset="0"/>
                <a:ea typeface="Calibri" panose="020F0502020204030204" pitchFamily="34" charset="0"/>
                <a:cs typeface="Calibri" panose="020F0502020204030204" pitchFamily="34" charset="0"/>
              </a:rPr>
              <a:t>carry the highest composite hazard scores for flood, heat, and drought. </a:t>
            </a:r>
          </a:p>
        </p:txBody>
      </p:sp>
      <p:grpSp>
        <p:nvGrpSpPr>
          <p:cNvPr id="188" name="Group 187">
            <a:extLst>
              <a:ext uri="{FF2B5EF4-FFF2-40B4-BE49-F238E27FC236}">
                <a16:creationId xmlns:a16="http://schemas.microsoft.com/office/drawing/2014/main" id="{95D14D36-9679-6A09-1B27-2E9A1A3703A7}"/>
              </a:ext>
            </a:extLst>
          </p:cNvPr>
          <p:cNvGrpSpPr/>
          <p:nvPr/>
        </p:nvGrpSpPr>
        <p:grpSpPr>
          <a:xfrm>
            <a:off x="32537764" y="11947819"/>
            <a:ext cx="10970398" cy="6475789"/>
            <a:chOff x="32654570" y="13200391"/>
            <a:chExt cx="10655188" cy="5834754"/>
          </a:xfrm>
        </p:grpSpPr>
        <p:sp>
          <p:nvSpPr>
            <p:cNvPr id="14" name="TextBox 13">
              <a:extLst>
                <a:ext uri="{FF2B5EF4-FFF2-40B4-BE49-F238E27FC236}">
                  <a16:creationId xmlns:a16="http://schemas.microsoft.com/office/drawing/2014/main" id="{C8DE881B-0906-50A9-A7CF-287241C881F1}"/>
                </a:ext>
              </a:extLst>
            </p:cNvPr>
            <p:cNvSpPr txBox="1"/>
            <p:nvPr/>
          </p:nvSpPr>
          <p:spPr>
            <a:xfrm>
              <a:off x="32654570" y="13845485"/>
              <a:ext cx="10655188" cy="5189660"/>
            </a:xfrm>
            <a:prstGeom prst="rect">
              <a:avLst/>
            </a:prstGeom>
            <a:solidFill>
              <a:schemeClr val="bg1">
                <a:lumMod val="95000"/>
              </a:schemeClr>
            </a:solidFill>
            <a:ln>
              <a:solidFill>
                <a:schemeClr val="tx1"/>
              </a:solidFill>
            </a:ln>
          </p:spPr>
          <p:txBody>
            <a:bodyPr rot="0" spcFirstLastPara="0" vertOverflow="overflow" horzOverflow="overflow" vert="horz" wrap="square" lIns="115481" tIns="57741" rIns="115481" bIns="57741" numCol="1" spcCol="0" rtlCol="0" fromWordArt="0" anchor="t" anchorCtr="0" forceAA="0" compatLnSpc="1">
              <a:prstTxWarp prst="textNoShape">
                <a:avLst/>
              </a:prstTxWarp>
              <a:spAutoFit/>
            </a:bodyPr>
            <a:lstStyle/>
            <a:p>
              <a:r>
                <a:rPr lang="en-US" sz="2800">
                  <a:latin typeface="Calibri" panose="020F0502020204030204" pitchFamily="34" charset="0"/>
                  <a:ea typeface="Calibri" panose="020F0502020204030204" pitchFamily="34" charset="0"/>
                  <a:cs typeface="Calibri" panose="020F0502020204030204" pitchFamily="34" charset="0"/>
                </a:rPr>
                <a:t>					The gap between finance and loss is widening</a:t>
              </a:r>
            </a:p>
            <a:p>
              <a:endParaRPr lang="en-US" sz="3079">
                <a:latin typeface="Garamond" panose="02020404030301010803" pitchFamily="18" charset="0"/>
              </a:endParaRPr>
            </a:p>
            <a:p>
              <a:endParaRPr lang="en-US" sz="3079">
                <a:latin typeface="Garamond" panose="02020404030301010803" pitchFamily="18" charset="0"/>
              </a:endParaRPr>
            </a:p>
            <a:p>
              <a:endParaRPr lang="en-US" sz="3079">
                <a:latin typeface="Garamond" panose="02020404030301010803" pitchFamily="18" charset="0"/>
              </a:endParaRPr>
            </a:p>
            <a:p>
              <a:endParaRPr lang="en-US" sz="3079">
                <a:latin typeface="Garamond" panose="02020404030301010803" pitchFamily="18" charset="0"/>
              </a:endParaRPr>
            </a:p>
            <a:p>
              <a:endParaRPr lang="en-US" sz="3079">
                <a:latin typeface="Garamond" panose="02020404030301010803" pitchFamily="18" charset="0"/>
              </a:endParaRPr>
            </a:p>
            <a:p>
              <a:endParaRPr lang="en-US" sz="3079">
                <a:latin typeface="Garamond" panose="02020404030301010803" pitchFamily="18" charset="0"/>
              </a:endParaRPr>
            </a:p>
            <a:p>
              <a:endParaRPr lang="en-US" sz="3079">
                <a:latin typeface="Garamond" panose="02020404030301010803" pitchFamily="18" charset="0"/>
              </a:endParaRPr>
            </a:p>
            <a:p>
              <a:endParaRPr lang="en-US" sz="3079">
                <a:latin typeface="Garamond" panose="02020404030301010803" pitchFamily="18" charset="0"/>
              </a:endParaRPr>
            </a:p>
            <a:p>
              <a:endParaRPr lang="en-US" sz="3079">
                <a:latin typeface="Garamond" panose="02020404030301010803" pitchFamily="18" charset="0"/>
              </a:endParaRPr>
            </a:p>
            <a:p>
              <a:endParaRPr lang="en-US" sz="3079">
                <a:latin typeface="Garamond" panose="02020404030301010803" pitchFamily="18" charset="0"/>
              </a:endParaRPr>
            </a:p>
            <a:p>
              <a:endParaRPr lang="en-US" sz="3079">
                <a:latin typeface="Garamond" panose="02020404030301010803" pitchFamily="18" charset="0"/>
              </a:endParaRPr>
            </a:p>
          </p:txBody>
        </p:sp>
        <p:grpSp>
          <p:nvGrpSpPr>
            <p:cNvPr id="44" name="Group 43">
              <a:extLst>
                <a:ext uri="{FF2B5EF4-FFF2-40B4-BE49-F238E27FC236}">
                  <a16:creationId xmlns:a16="http://schemas.microsoft.com/office/drawing/2014/main" id="{14DA7323-87B9-6734-D27E-709B1A9D8252}"/>
                </a:ext>
              </a:extLst>
            </p:cNvPr>
            <p:cNvGrpSpPr/>
            <p:nvPr/>
          </p:nvGrpSpPr>
          <p:grpSpPr>
            <a:xfrm>
              <a:off x="32654570" y="13200391"/>
              <a:ext cx="10655188" cy="638371"/>
              <a:chOff x="0" y="0"/>
              <a:chExt cx="1392288" cy="294839"/>
            </a:xfrm>
            <a:solidFill>
              <a:schemeClr val="accent5">
                <a:lumMod val="20000"/>
                <a:lumOff val="80000"/>
              </a:schemeClr>
            </a:solidFill>
          </p:grpSpPr>
          <p:sp>
            <p:nvSpPr>
              <p:cNvPr id="45" name="Rectangle: Rounded Corners 44">
                <a:extLst>
                  <a:ext uri="{FF2B5EF4-FFF2-40B4-BE49-F238E27FC236}">
                    <a16:creationId xmlns:a16="http://schemas.microsoft.com/office/drawing/2014/main" id="{E0403538-74D1-F984-78C6-88E2A0C2157E}"/>
                  </a:ext>
                </a:extLst>
              </p:cNvPr>
              <p:cNvSpPr/>
              <p:nvPr/>
            </p:nvSpPr>
            <p:spPr>
              <a:xfrm>
                <a:off x="0" y="0"/>
                <a:ext cx="1392288" cy="294839"/>
              </a:xfrm>
              <a:prstGeom prst="roundRect">
                <a:avLst/>
              </a:prstGeom>
              <a:solidFill>
                <a:schemeClr val="bg2">
                  <a:lumMod val="5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sz="3079"/>
              </a:p>
            </p:txBody>
          </p:sp>
          <p:sp>
            <p:nvSpPr>
              <p:cNvPr id="46" name="Rectangle: Rounded Corners 4">
                <a:extLst>
                  <a:ext uri="{FF2B5EF4-FFF2-40B4-BE49-F238E27FC236}">
                    <a16:creationId xmlns:a16="http://schemas.microsoft.com/office/drawing/2014/main" id="{9BDA5AE0-D294-1EEB-CF74-8C58DE2A5E88}"/>
                  </a:ext>
                </a:extLst>
              </p:cNvPr>
              <p:cNvSpPr txBox="1"/>
              <p:nvPr/>
            </p:nvSpPr>
            <p:spPr>
              <a:xfrm>
                <a:off x="14393" y="14393"/>
                <a:ext cx="1363502" cy="266053"/>
              </a:xfrm>
              <a:prstGeom prst="rect">
                <a:avLst/>
              </a:prstGeom>
              <a:solidFill>
                <a:schemeClr val="bg2">
                  <a:lumMod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7741" tIns="57741" rIns="57741" bIns="57741" numCol="1" spcCol="1270" anchor="ctr" anchorCtr="0">
                <a:noAutofit/>
              </a:bodyPr>
              <a:lstStyle/>
              <a:p>
                <a:pPr defTabSz="673691">
                  <a:lnSpc>
                    <a:spcPct val="90000"/>
                  </a:lnSpc>
                  <a:spcBef>
                    <a:spcPct val="0"/>
                  </a:spcBef>
                  <a:spcAft>
                    <a:spcPct val="35000"/>
                  </a:spcAft>
                </a:pPr>
                <a:r>
                  <a:rPr lang="en-GB" sz="3000" b="1">
                    <a:solidFill>
                      <a:schemeClr val="bg1"/>
                    </a:solidFill>
                    <a:latin typeface="Georgia" panose="02040502050405020303" pitchFamily="18" charset="0"/>
                    <a:cs typeface="Helvetica" panose="020B0604020202020204" pitchFamily="34" charset="0"/>
                  </a:rPr>
                  <a:t>08 – Trend &amp; Outlook</a:t>
                </a:r>
              </a:p>
            </p:txBody>
          </p:sp>
        </p:grpSp>
        <p:pic>
          <p:nvPicPr>
            <p:cNvPr id="133" name="Picture 132">
              <a:extLst>
                <a:ext uri="{FF2B5EF4-FFF2-40B4-BE49-F238E27FC236}">
                  <a16:creationId xmlns:a16="http://schemas.microsoft.com/office/drawing/2014/main" id="{70DB40FC-135A-B61C-C53F-EE13AC863B3D}"/>
                </a:ext>
              </a:extLst>
            </p:cNvPr>
            <p:cNvPicPr>
              <a:picLocks noChangeAspect="1"/>
            </p:cNvPicPr>
            <p:nvPr/>
          </p:nvPicPr>
          <p:blipFill>
            <a:blip r:embed="rId20"/>
            <a:stretch>
              <a:fillRect/>
            </a:stretch>
          </p:blipFill>
          <p:spPr>
            <a:xfrm>
              <a:off x="33507120" y="14591068"/>
              <a:ext cx="8944330" cy="2879987"/>
            </a:xfrm>
            <a:prstGeom prst="rect">
              <a:avLst/>
            </a:prstGeom>
          </p:spPr>
        </p:pic>
        <p:sp>
          <p:nvSpPr>
            <p:cNvPr id="166" name="TextBox 165">
              <a:extLst>
                <a:ext uri="{FF2B5EF4-FFF2-40B4-BE49-F238E27FC236}">
                  <a16:creationId xmlns:a16="http://schemas.microsoft.com/office/drawing/2014/main" id="{21E6D8CC-F2A3-E7A3-61A4-FC1D52EE0C60}"/>
                </a:ext>
              </a:extLst>
            </p:cNvPr>
            <p:cNvSpPr txBox="1"/>
            <p:nvPr/>
          </p:nvSpPr>
          <p:spPr>
            <a:xfrm>
              <a:off x="33205834" y="17941069"/>
              <a:ext cx="9722565" cy="776467"/>
            </a:xfrm>
            <a:prstGeom prst="rect">
              <a:avLst/>
            </a:prstGeom>
            <a:solidFill>
              <a:srgbClr val="FFEFBD"/>
            </a:solidFill>
            <a:ln>
              <a:solidFill>
                <a:schemeClr val="tx1"/>
              </a:solidFill>
            </a:ln>
          </p:spPr>
          <p:txBody>
            <a:bodyPr wrap="square" rtlCol="0">
              <a:spAutoFit/>
            </a:bodyPr>
            <a:lstStyle/>
            <a:p>
              <a:r>
                <a:rPr lang="en-GB" sz="2500">
                  <a:latin typeface="Calibri" panose="020F0502020204030204" pitchFamily="34" charset="0"/>
                  <a:ea typeface="Calibri" panose="020F0502020204030204" pitchFamily="34" charset="0"/>
                  <a:cs typeface="Calibri" panose="020F0502020204030204" pitchFamily="34" charset="0"/>
                </a:rPr>
                <a:t> </a:t>
              </a:r>
              <a:r>
                <a:rPr lang="en-GB" sz="2500" b="1">
                  <a:latin typeface="Calibri" panose="020F0502020204030204" pitchFamily="34" charset="0"/>
                  <a:ea typeface="Calibri" panose="020F0502020204030204" pitchFamily="34" charset="0"/>
                  <a:cs typeface="Calibri" panose="020F0502020204030204" pitchFamily="34" charset="0"/>
                </a:rPr>
                <a:t>Climate finance </a:t>
              </a:r>
              <a:r>
                <a:rPr lang="en-GB" sz="2500">
                  <a:latin typeface="Calibri" panose="020F0502020204030204" pitchFamily="34" charset="0"/>
                  <a:ea typeface="Calibri" panose="020F0502020204030204" pitchFamily="34" charset="0"/>
                  <a:cs typeface="Calibri" panose="020F0502020204030204" pitchFamily="34" charset="0"/>
                </a:rPr>
                <a:t>remains severely </a:t>
              </a:r>
              <a:r>
                <a:rPr lang="en-GB" sz="2500" b="1">
                  <a:latin typeface="Calibri" panose="020F0502020204030204" pitchFamily="34" charset="0"/>
                  <a:ea typeface="Calibri" panose="020F0502020204030204" pitchFamily="34" charset="0"/>
                  <a:cs typeface="Calibri" panose="020F0502020204030204" pitchFamily="34" charset="0"/>
                </a:rPr>
                <a:t>outpaced</a:t>
              </a:r>
              <a:r>
                <a:rPr lang="en-GB" sz="2500">
                  <a:latin typeface="Calibri" panose="020F0502020204030204" pitchFamily="34" charset="0"/>
                  <a:ea typeface="Calibri" panose="020F0502020204030204" pitchFamily="34" charset="0"/>
                  <a:cs typeface="Calibri" panose="020F0502020204030204" pitchFamily="34" charset="0"/>
                </a:rPr>
                <a:t> by</a:t>
              </a:r>
              <a:r>
                <a:rPr lang="en-GB" sz="2500" b="1">
                  <a:latin typeface="Calibri" panose="020F0502020204030204" pitchFamily="34" charset="0"/>
                  <a:ea typeface="Calibri" panose="020F0502020204030204" pitchFamily="34" charset="0"/>
                  <a:cs typeface="Calibri" panose="020F0502020204030204" pitchFamily="34" charset="0"/>
                </a:rPr>
                <a:t> climate damages</a:t>
              </a:r>
              <a:r>
                <a:rPr lang="en-GB" sz="2500">
                  <a:latin typeface="Calibri" panose="020F0502020204030204" pitchFamily="34" charset="0"/>
                  <a:ea typeface="Calibri" panose="020F0502020204030204" pitchFamily="34" charset="0"/>
                  <a:cs typeface="Calibri" panose="020F0502020204030204" pitchFamily="34" charset="0"/>
                </a:rPr>
                <a:t>, signalling an urgent need to scale funding to match the true costs of climate impacts.</a:t>
              </a:r>
            </a:p>
          </p:txBody>
        </p:sp>
        <p:cxnSp>
          <p:nvCxnSpPr>
            <p:cNvPr id="167" name="Straight Connector 166">
              <a:extLst>
                <a:ext uri="{FF2B5EF4-FFF2-40B4-BE49-F238E27FC236}">
                  <a16:creationId xmlns:a16="http://schemas.microsoft.com/office/drawing/2014/main" id="{5C4183D5-88A6-DB78-4C8C-46AF1685820F}"/>
                </a:ext>
              </a:extLst>
            </p:cNvPr>
            <p:cNvCxnSpPr>
              <a:cxnSpLocks/>
            </p:cNvCxnSpPr>
            <p:nvPr/>
          </p:nvCxnSpPr>
          <p:spPr>
            <a:xfrm flipH="1">
              <a:off x="33205834" y="17940944"/>
              <a:ext cx="1" cy="814019"/>
            </a:xfrm>
            <a:prstGeom prst="line">
              <a:avLst/>
            </a:prstGeom>
            <a:ln w="76200">
              <a:solidFill>
                <a:srgbClr val="584300"/>
              </a:solidFill>
            </a:ln>
          </p:spPr>
          <p:style>
            <a:lnRef idx="3">
              <a:schemeClr val="accent3"/>
            </a:lnRef>
            <a:fillRef idx="0">
              <a:schemeClr val="accent3"/>
            </a:fillRef>
            <a:effectRef idx="2">
              <a:schemeClr val="accent3"/>
            </a:effectRef>
            <a:fontRef idx="minor">
              <a:schemeClr val="tx1"/>
            </a:fontRef>
          </p:style>
        </p:cxnSp>
      </p:grpSp>
      <p:grpSp>
        <p:nvGrpSpPr>
          <p:cNvPr id="170" name="Group 169">
            <a:extLst>
              <a:ext uri="{FF2B5EF4-FFF2-40B4-BE49-F238E27FC236}">
                <a16:creationId xmlns:a16="http://schemas.microsoft.com/office/drawing/2014/main" id="{E540B7F9-0DC7-F8AF-7FC8-4D704D03629D}"/>
              </a:ext>
            </a:extLst>
          </p:cNvPr>
          <p:cNvGrpSpPr/>
          <p:nvPr/>
        </p:nvGrpSpPr>
        <p:grpSpPr>
          <a:xfrm>
            <a:off x="10487521" y="4549708"/>
            <a:ext cx="9721822" cy="635961"/>
            <a:chOff x="0" y="0"/>
            <a:chExt cx="1392288" cy="294839"/>
          </a:xfrm>
          <a:solidFill>
            <a:schemeClr val="bg2">
              <a:lumMod val="50000"/>
            </a:schemeClr>
          </a:solidFill>
        </p:grpSpPr>
        <p:sp>
          <p:nvSpPr>
            <p:cNvPr id="171" name="Rectangle: Rounded Corners 170">
              <a:extLst>
                <a:ext uri="{FF2B5EF4-FFF2-40B4-BE49-F238E27FC236}">
                  <a16:creationId xmlns:a16="http://schemas.microsoft.com/office/drawing/2014/main" id="{4FCCAB7C-5843-F3C9-EC7B-3D3606C1FA37}"/>
                </a:ext>
              </a:extLst>
            </p:cNvPr>
            <p:cNvSpPr/>
            <p:nvPr/>
          </p:nvSpPr>
          <p:spPr>
            <a:xfrm>
              <a:off x="0" y="0"/>
              <a:ext cx="1392288" cy="294839"/>
            </a:xfrm>
            <a:prstGeom prst="roundRect">
              <a:avLst/>
            </a:prstGeom>
            <a:grp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GB" sz="3079">
                <a:solidFill>
                  <a:schemeClr val="bg2">
                    <a:lumMod val="25000"/>
                  </a:schemeClr>
                </a:solidFill>
              </a:endParaRPr>
            </a:p>
          </p:txBody>
        </p:sp>
        <p:sp>
          <p:nvSpPr>
            <p:cNvPr id="172" name="Rectangle: Rounded Corners 4">
              <a:extLst>
                <a:ext uri="{FF2B5EF4-FFF2-40B4-BE49-F238E27FC236}">
                  <a16:creationId xmlns:a16="http://schemas.microsoft.com/office/drawing/2014/main" id="{D24E1A79-EA77-279C-03CE-B0079D91638A}"/>
                </a:ext>
              </a:extLst>
            </p:cNvPr>
            <p:cNvSpPr txBox="1"/>
            <p:nvPr/>
          </p:nvSpPr>
          <p:spPr>
            <a:xfrm>
              <a:off x="14393" y="14393"/>
              <a:ext cx="1363502" cy="266053"/>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0" vert="horz" wrap="square" lIns="57741" tIns="57741" rIns="57741" bIns="57741" numCol="1" spcCol="1270" anchor="ctr" anchorCtr="0">
              <a:noAutofit/>
            </a:bodyPr>
            <a:lstStyle/>
            <a:p>
              <a:pPr defTabSz="673691">
                <a:lnSpc>
                  <a:spcPct val="90000"/>
                </a:lnSpc>
                <a:spcBef>
                  <a:spcPct val="0"/>
                </a:spcBef>
                <a:spcAft>
                  <a:spcPct val="35000"/>
                </a:spcAft>
              </a:pPr>
              <a:r>
                <a:rPr lang="en-GB" sz="3200" b="1">
                  <a:solidFill>
                    <a:schemeClr val="bg1"/>
                  </a:solidFill>
                  <a:latin typeface="Georgia" panose="02040502050405020303" pitchFamily="18" charset="0"/>
                  <a:cs typeface="Helvetica" panose="020B0604020202020204" pitchFamily="34" charset="0"/>
                </a:rPr>
                <a:t>02 – Research question</a:t>
              </a:r>
            </a:p>
          </p:txBody>
        </p:sp>
      </p:grpSp>
      <p:sp>
        <p:nvSpPr>
          <p:cNvPr id="175" name="TextBox 174">
            <a:extLst>
              <a:ext uri="{FF2B5EF4-FFF2-40B4-BE49-F238E27FC236}">
                <a16:creationId xmlns:a16="http://schemas.microsoft.com/office/drawing/2014/main" id="{A8508830-F7CB-EF2A-F342-B0BEDD1E19D7}"/>
              </a:ext>
            </a:extLst>
          </p:cNvPr>
          <p:cNvSpPr txBox="1"/>
          <p:nvPr/>
        </p:nvSpPr>
        <p:spPr>
          <a:xfrm>
            <a:off x="8253" y="2957138"/>
            <a:ext cx="33482467" cy="1200329"/>
          </a:xfrm>
          <a:prstGeom prst="rect">
            <a:avLst/>
          </a:prstGeom>
          <a:solidFill>
            <a:schemeClr val="bg1">
              <a:lumMod val="95000"/>
            </a:schemeClr>
          </a:solidFill>
        </p:spPr>
        <p:txBody>
          <a:bodyPr wrap="square" rtlCol="0">
            <a:spAutoFit/>
          </a:bodyPr>
          <a:lstStyle/>
          <a:p>
            <a:r>
              <a:rPr lang="en-GB" sz="3600">
                <a:latin typeface="Calibri" panose="020F0502020204030204" pitchFamily="34" charset="0"/>
                <a:ea typeface="Calibri" panose="020F0502020204030204" pitchFamily="34" charset="0"/>
                <a:cs typeface="Calibri" panose="020F0502020204030204" pitchFamily="34" charset="0"/>
              </a:rPr>
              <a:t> Using a panel of 117 countries (2000-2023), this study applies supervised machine learning  to test if Need and Readiness factors predicts the allocation of International finance. Random forest and </a:t>
            </a:r>
            <a:r>
              <a:rPr lang="en-GB" sz="3600" err="1">
                <a:latin typeface="Calibri" panose="020F0502020204030204" pitchFamily="34" charset="0"/>
                <a:ea typeface="Calibri" panose="020F0502020204030204" pitchFamily="34" charset="0"/>
                <a:cs typeface="Calibri" panose="020F0502020204030204" pitchFamily="34" charset="0"/>
              </a:rPr>
              <a:t>XGBoost</a:t>
            </a:r>
            <a:r>
              <a:rPr lang="en-GB" sz="3600">
                <a:latin typeface="Calibri" panose="020F0502020204030204" pitchFamily="34" charset="0"/>
                <a:ea typeface="Calibri" panose="020F0502020204030204" pitchFamily="34" charset="0"/>
                <a:cs typeface="Calibri" panose="020F0502020204030204" pitchFamily="34" charset="0"/>
              </a:rPr>
              <a:t> models reveal need factors explains only 18% of the capital flow variance.  </a:t>
            </a:r>
          </a:p>
        </p:txBody>
      </p:sp>
      <p:cxnSp>
        <p:nvCxnSpPr>
          <p:cNvPr id="176" name="Straight Connector 175">
            <a:extLst>
              <a:ext uri="{FF2B5EF4-FFF2-40B4-BE49-F238E27FC236}">
                <a16:creationId xmlns:a16="http://schemas.microsoft.com/office/drawing/2014/main" id="{C92BE4FC-A973-0BBE-028C-F7B159750589}"/>
              </a:ext>
              <a:ext uri="{C183D7F6-B498-43B3-948B-1728B52AA6E4}">
                <adec:decorative xmlns:adec="http://schemas.microsoft.com/office/drawing/2017/decorative" val="1"/>
              </a:ext>
            </a:extLst>
          </p:cNvPr>
          <p:cNvCxnSpPr>
            <a:cxnSpLocks/>
          </p:cNvCxnSpPr>
          <p:nvPr/>
        </p:nvCxnSpPr>
        <p:spPr>
          <a:xfrm flipV="1">
            <a:off x="10091411" y="4579359"/>
            <a:ext cx="0" cy="5738861"/>
          </a:xfrm>
          <a:prstGeom prst="line">
            <a:avLst/>
          </a:prstGeom>
          <a:ln w="3175">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78" name="Straight Connector 177">
            <a:extLst>
              <a:ext uri="{FF2B5EF4-FFF2-40B4-BE49-F238E27FC236}">
                <a16:creationId xmlns:a16="http://schemas.microsoft.com/office/drawing/2014/main" id="{B39E18C4-3554-9250-A6CE-D9800BB569A3}"/>
              </a:ext>
              <a:ext uri="{C183D7F6-B498-43B3-948B-1728B52AA6E4}">
                <adec:decorative xmlns:adec="http://schemas.microsoft.com/office/drawing/2017/decorative" val="1"/>
              </a:ext>
            </a:extLst>
          </p:cNvPr>
          <p:cNvCxnSpPr>
            <a:cxnSpLocks/>
          </p:cNvCxnSpPr>
          <p:nvPr/>
        </p:nvCxnSpPr>
        <p:spPr>
          <a:xfrm flipV="1">
            <a:off x="20547208" y="4592142"/>
            <a:ext cx="0" cy="5738861"/>
          </a:xfrm>
          <a:prstGeom prst="line">
            <a:avLst/>
          </a:prstGeom>
          <a:ln w="3175">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79" name="Straight Connector 178">
            <a:extLst>
              <a:ext uri="{FF2B5EF4-FFF2-40B4-BE49-F238E27FC236}">
                <a16:creationId xmlns:a16="http://schemas.microsoft.com/office/drawing/2014/main" id="{04E0EE96-BB17-8DF7-C0F3-973D2487002E}"/>
              </a:ext>
              <a:ext uri="{C183D7F6-B498-43B3-948B-1728B52AA6E4}">
                <adec:decorative xmlns:adec="http://schemas.microsoft.com/office/drawing/2017/decorative" val="1"/>
              </a:ext>
            </a:extLst>
          </p:cNvPr>
          <p:cNvCxnSpPr>
            <a:cxnSpLocks/>
          </p:cNvCxnSpPr>
          <p:nvPr/>
        </p:nvCxnSpPr>
        <p:spPr>
          <a:xfrm flipV="1">
            <a:off x="32243286" y="4608926"/>
            <a:ext cx="0" cy="5738861"/>
          </a:xfrm>
          <a:prstGeom prst="line">
            <a:avLst/>
          </a:prstGeom>
          <a:ln w="3175">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sp>
        <p:nvSpPr>
          <p:cNvPr id="208" name="TextBox 207">
            <a:extLst>
              <a:ext uri="{FF2B5EF4-FFF2-40B4-BE49-F238E27FC236}">
                <a16:creationId xmlns:a16="http://schemas.microsoft.com/office/drawing/2014/main" id="{640E7837-7E06-010F-DEDA-7473A9F7BA96}"/>
              </a:ext>
            </a:extLst>
          </p:cNvPr>
          <p:cNvSpPr txBox="1"/>
          <p:nvPr/>
        </p:nvSpPr>
        <p:spPr>
          <a:xfrm>
            <a:off x="22884546" y="19936874"/>
            <a:ext cx="20102093" cy="1429711"/>
          </a:xfrm>
          <a:prstGeom prst="rect">
            <a:avLst/>
          </a:prstGeom>
          <a:noFill/>
        </p:spPr>
        <p:txBody>
          <a:bodyPr wrap="square" rtlCol="0">
            <a:spAutoFit/>
          </a:bodyPr>
          <a:lstStyle/>
          <a:p>
            <a:r>
              <a:rPr lang="en-GB" sz="2800">
                <a:latin typeface="Calibri" panose="020F0502020204030204" pitchFamily="34" charset="0"/>
                <a:ea typeface="Calibri" panose="020F0502020204030204" pitchFamily="34" charset="0"/>
                <a:cs typeface="Calibri" panose="020F0502020204030204" pitchFamily="34" charset="0"/>
              </a:rPr>
              <a:t>Within the limited share of climate finance allocation explained by the </a:t>
            </a:r>
            <a:r>
              <a:rPr lang="en-GB" sz="2800" b="1">
                <a:latin typeface="Calibri" panose="020F0502020204030204" pitchFamily="34" charset="0"/>
                <a:ea typeface="Calibri" panose="020F0502020204030204" pitchFamily="34" charset="0"/>
                <a:cs typeface="Calibri" panose="020F0502020204030204" pitchFamily="34" charset="0"/>
              </a:rPr>
              <a:t>model (18%)</a:t>
            </a:r>
            <a:r>
              <a:rPr lang="en-GB" sz="2800">
                <a:latin typeface="Calibri" panose="020F0502020204030204" pitchFamily="34" charset="0"/>
                <a:ea typeface="Calibri" panose="020F0502020204030204" pitchFamily="34" charset="0"/>
                <a:cs typeface="Calibri" panose="020F0502020204030204" pitchFamily="34" charset="0"/>
              </a:rPr>
              <a:t>, </a:t>
            </a:r>
            <a:r>
              <a:rPr lang="en-GB" sz="2800" b="1">
                <a:latin typeface="Calibri" panose="020F0502020204030204" pitchFamily="34" charset="0"/>
                <a:ea typeface="Calibri" panose="020F0502020204030204" pitchFamily="34" charset="0"/>
                <a:cs typeface="Calibri" panose="020F0502020204030204" pitchFamily="34" charset="0"/>
              </a:rPr>
              <a:t>population</a:t>
            </a:r>
            <a:r>
              <a:rPr lang="en-GB" sz="2800">
                <a:latin typeface="Calibri" panose="020F0502020204030204" pitchFamily="34" charset="0"/>
                <a:ea typeface="Calibri" panose="020F0502020204030204" pitchFamily="34" charset="0"/>
                <a:cs typeface="Calibri" panose="020F0502020204030204" pitchFamily="34" charset="0"/>
              </a:rPr>
              <a:t> is the dominant predictor, </a:t>
            </a:r>
          </a:p>
          <a:p>
            <a:r>
              <a:rPr lang="en-GB" sz="2800" b="1">
                <a:latin typeface="Calibri" panose="020F0502020204030204" pitchFamily="34" charset="0"/>
                <a:ea typeface="Calibri" panose="020F0502020204030204" pitchFamily="34" charset="0"/>
                <a:cs typeface="Calibri" panose="020F0502020204030204" pitchFamily="34" charset="0"/>
              </a:rPr>
              <a:t>whereas physical climate vulnerability </a:t>
            </a:r>
            <a:r>
              <a:rPr lang="en-GB" sz="2800">
                <a:latin typeface="Calibri" panose="020F0502020204030204" pitchFamily="34" charset="0"/>
                <a:ea typeface="Calibri" panose="020F0502020204030204" pitchFamily="34" charset="0"/>
                <a:cs typeface="Calibri" panose="020F0502020204030204" pitchFamily="34" charset="0"/>
              </a:rPr>
              <a:t>plays a </a:t>
            </a:r>
            <a:r>
              <a:rPr lang="en-GB" sz="2800" b="1">
                <a:latin typeface="Calibri" panose="020F0502020204030204" pitchFamily="34" charset="0"/>
                <a:ea typeface="Calibri" panose="020F0502020204030204" pitchFamily="34" charset="0"/>
                <a:cs typeface="Calibri" panose="020F0502020204030204" pitchFamily="34" charset="0"/>
              </a:rPr>
              <a:t>minimal role (2%)</a:t>
            </a:r>
            <a:r>
              <a:rPr lang="en-GB" sz="2800">
                <a:latin typeface="Calibri" panose="020F0502020204030204" pitchFamily="34" charset="0"/>
                <a:ea typeface="Calibri" panose="020F0502020204030204" pitchFamily="34" charset="0"/>
                <a:cs typeface="Calibri" panose="020F0502020204030204" pitchFamily="34" charset="0"/>
              </a:rPr>
              <a:t>, indicating a systematic misalignment between finance flows and objective climate risk.</a:t>
            </a:r>
          </a:p>
        </p:txBody>
      </p:sp>
    </p:spTree>
    <p:extLst>
      <p:ext uri="{BB962C8B-B14F-4D97-AF65-F5344CB8AC3E}">
        <p14:creationId xmlns:p14="http://schemas.microsoft.com/office/powerpoint/2010/main" val="10985722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5</cp:revision>
  <dcterms:created xsi:type="dcterms:W3CDTF">2026-04-18T19:48:56Z</dcterms:created>
  <dcterms:modified xsi:type="dcterms:W3CDTF">2026-06-09T03:53:35Z</dcterms:modified>
</cp:coreProperties>
</file>